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71" r:id="rId10"/>
    <p:sldId id="27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748B"/>
    <a:srgbClr val="7C3AE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1652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6128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0"/>
            <a:ext cx="1161288" cy="5143500"/>
          </a:xfrm>
          <a:prstGeom prst="rect">
            <a:avLst/>
          </a:prstGeom>
          <a:solidFill>
            <a:srgbClr val="6B33D0"/>
          </a:solidFill>
          <a:ln w="12700">
            <a:solidFill>
              <a:srgbClr val="6B3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0"/>
            <a:ext cx="1161288" cy="5143500"/>
          </a:xfrm>
          <a:prstGeom prst="rect">
            <a:avLst/>
          </a:prstGeom>
          <a:solidFill>
            <a:srgbClr val="592CB2"/>
          </a:solidFill>
          <a:ln w="12700">
            <a:solidFill>
              <a:srgbClr val="592C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0"/>
            <a:ext cx="1161288" cy="5143500"/>
          </a:xfrm>
          <a:prstGeom prst="rect">
            <a:avLst/>
          </a:prstGeom>
          <a:solidFill>
            <a:srgbClr val="482595"/>
          </a:solidFill>
          <a:ln w="12700">
            <a:solidFill>
              <a:srgbClr val="4825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1161288" cy="5143500"/>
          </a:xfrm>
          <a:prstGeom prst="rect">
            <a:avLst/>
          </a:prstGeom>
          <a:solidFill>
            <a:srgbClr val="361D78"/>
          </a:solidFill>
          <a:ln w="12700">
            <a:solidFill>
              <a:srgbClr val="361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0"/>
            <a:ext cx="1161288" cy="5143500"/>
          </a:xfrm>
          <a:prstGeom prst="rect">
            <a:avLst/>
          </a:prstGeom>
          <a:solidFill>
            <a:srgbClr val="25165B"/>
          </a:solidFill>
          <a:ln w="12700">
            <a:solidFill>
              <a:srgbClr val="251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0"/>
            <a:ext cx="1161288" cy="5143500"/>
          </a:xfrm>
          <a:prstGeom prst="rect">
            <a:avLst/>
          </a:prstGeom>
          <a:solidFill>
            <a:srgbClr val="130F3D"/>
          </a:solidFill>
          <a:ln w="12700">
            <a:solidFill>
              <a:srgbClr val="130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0"/>
            <a:ext cx="1161288" cy="5143500"/>
          </a:xfrm>
          <a:prstGeom prst="rect">
            <a:avLst/>
          </a:prstGeom>
          <a:solidFill>
            <a:srgbClr val="020820"/>
          </a:solidFill>
          <a:ln w="12700">
            <a:solidFill>
              <a:srgbClr val="020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669280" y="-1645920"/>
            <a:ext cx="5943600" cy="5943600"/>
          </a:xfrm>
          <a:prstGeom prst="ellipse">
            <a:avLst/>
          </a:prstGeom>
          <a:solidFill>
            <a:srgbClr val="4F46E5">
              <a:alpha val="18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858000" y="-274320"/>
            <a:ext cx="3200400" cy="32004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116128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43000" y="0"/>
            <a:ext cx="1161288" cy="54864"/>
          </a:xfrm>
          <a:prstGeom prst="rect">
            <a:avLst/>
          </a:prstGeom>
          <a:solidFill>
            <a:srgbClr val="6B4CE9"/>
          </a:solidFill>
          <a:ln w="12700">
            <a:solidFill>
              <a:srgbClr val="6B4C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286000" y="0"/>
            <a:ext cx="1161288" cy="54864"/>
          </a:xfrm>
          <a:prstGeom prst="rect">
            <a:avLst/>
          </a:prstGeom>
          <a:solidFill>
            <a:srgbClr val="5A5DE6"/>
          </a:solidFill>
          <a:ln w="12700">
            <a:solidFill>
              <a:srgbClr val="5A5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429000" y="0"/>
            <a:ext cx="1161288" cy="54864"/>
          </a:xfrm>
          <a:prstGeom prst="rect">
            <a:avLst/>
          </a:prstGeom>
          <a:solidFill>
            <a:srgbClr val="496FE2"/>
          </a:solidFill>
          <a:ln w="12700">
            <a:solidFill>
              <a:srgbClr val="496F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0" y="0"/>
            <a:ext cx="1161288" cy="54864"/>
          </a:xfrm>
          <a:prstGeom prst="rect">
            <a:avLst/>
          </a:prstGeom>
          <a:solidFill>
            <a:srgbClr val="3981DF"/>
          </a:solidFill>
          <a:ln w="12700">
            <a:solidFill>
              <a:srgbClr val="3981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715000" y="0"/>
            <a:ext cx="1161288" cy="54864"/>
          </a:xfrm>
          <a:prstGeom prst="rect">
            <a:avLst/>
          </a:prstGeom>
          <a:solidFill>
            <a:srgbClr val="2893DB"/>
          </a:solidFill>
          <a:ln w="12700">
            <a:solidFill>
              <a:srgbClr val="2893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858000" y="0"/>
            <a:ext cx="1161288" cy="54864"/>
          </a:xfrm>
          <a:prstGeom prst="rect">
            <a:avLst/>
          </a:prstGeom>
          <a:solidFill>
            <a:srgbClr val="17A4D8"/>
          </a:solidFill>
          <a:ln w="12700">
            <a:solidFill>
              <a:srgbClr val="17A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001000" y="0"/>
            <a:ext cx="1161288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41148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INTELLIHIRE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411480" y="1508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Signals to Semantics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1480" y="20299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Interview Assessment via ML, GenAI &amp; Heuristic Fusion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" y="2542032"/>
            <a:ext cx="53263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25830" y="2542032"/>
            <a:ext cx="532638" cy="45720"/>
          </a:xfrm>
          <a:prstGeom prst="rect">
            <a:avLst/>
          </a:prstGeom>
          <a:solidFill>
            <a:srgbClr val="E4902B"/>
          </a:solidFill>
          <a:ln w="12700">
            <a:solidFill>
              <a:srgbClr val="E490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440180" y="2542032"/>
            <a:ext cx="532638" cy="45720"/>
          </a:xfrm>
          <a:prstGeom prst="rect">
            <a:avLst/>
          </a:prstGeom>
          <a:solidFill>
            <a:srgbClr val="D2814C"/>
          </a:solidFill>
          <a:ln w="12700">
            <a:solidFill>
              <a:srgbClr val="D281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954530" y="2542032"/>
            <a:ext cx="532638" cy="45720"/>
          </a:xfrm>
          <a:prstGeom prst="rect">
            <a:avLst/>
          </a:prstGeom>
          <a:solidFill>
            <a:srgbClr val="C1736C"/>
          </a:solidFill>
          <a:ln w="12700">
            <a:solidFill>
              <a:srgbClr val="C173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468880" y="2542032"/>
            <a:ext cx="532638" cy="45720"/>
          </a:xfrm>
          <a:prstGeom prst="rect">
            <a:avLst/>
          </a:prstGeom>
          <a:solidFill>
            <a:srgbClr val="B0658C"/>
          </a:solidFill>
          <a:ln w="12700">
            <a:solidFill>
              <a:srgbClr val="B065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983230" y="2542032"/>
            <a:ext cx="532638" cy="45720"/>
          </a:xfrm>
          <a:prstGeom prst="rect">
            <a:avLst/>
          </a:prstGeom>
          <a:solidFill>
            <a:srgbClr val="9F57AC"/>
          </a:solidFill>
          <a:ln w="12700">
            <a:solidFill>
              <a:srgbClr val="9F57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497580" y="2542032"/>
            <a:ext cx="532638" cy="45720"/>
          </a:xfrm>
          <a:prstGeom prst="rect">
            <a:avLst/>
          </a:prstGeom>
          <a:solidFill>
            <a:srgbClr val="8D48CD"/>
          </a:solidFill>
          <a:ln w="12700">
            <a:solidFill>
              <a:srgbClr val="8D48C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011930" y="2542032"/>
            <a:ext cx="532638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11480" y="26974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Harshita Maurya  ·  Sharmili Pednekar  ·  Sannidhi Shetty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1480" y="3044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Sushant Gawade  |  Universal College of Engineering, Maharashtra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46520" y="3401568"/>
            <a:ext cx="30403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732270" y="3401568"/>
            <a:ext cx="304038" cy="384048"/>
          </a:xfrm>
          <a:prstGeom prst="rect">
            <a:avLst/>
          </a:prstGeom>
          <a:solidFill>
            <a:srgbClr val="6B33CF"/>
          </a:solidFill>
          <a:ln w="12700">
            <a:solidFill>
              <a:srgbClr val="6B33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018020" y="3401568"/>
            <a:ext cx="304038" cy="384048"/>
          </a:xfrm>
          <a:prstGeom prst="rect">
            <a:avLst/>
          </a:prstGeom>
          <a:solidFill>
            <a:srgbClr val="5A2DB1"/>
          </a:solidFill>
          <a:ln w="12700">
            <a:solidFill>
              <a:srgbClr val="5A2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303770" y="3401568"/>
            <a:ext cx="304038" cy="384048"/>
          </a:xfrm>
          <a:prstGeom prst="rect">
            <a:avLst/>
          </a:prstGeom>
          <a:solidFill>
            <a:srgbClr val="492693"/>
          </a:solidFill>
          <a:ln w="12700">
            <a:solidFill>
              <a:srgbClr val="4926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589520" y="3401568"/>
            <a:ext cx="304038" cy="384048"/>
          </a:xfrm>
          <a:prstGeom prst="rect">
            <a:avLst/>
          </a:prstGeom>
          <a:solidFill>
            <a:srgbClr val="382074"/>
          </a:solidFill>
          <a:ln w="12700">
            <a:solidFill>
              <a:srgbClr val="3820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875270" y="3401568"/>
            <a:ext cx="304038" cy="384048"/>
          </a:xfrm>
          <a:prstGeom prst="rect">
            <a:avLst/>
          </a:prstGeom>
          <a:solidFill>
            <a:srgbClr val="271956"/>
          </a:solidFill>
          <a:ln w="12700">
            <a:solidFill>
              <a:srgbClr val="2719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161020" y="3401568"/>
            <a:ext cx="304038" cy="384048"/>
          </a:xfrm>
          <a:prstGeom prst="rect">
            <a:avLst/>
          </a:prstGeom>
          <a:solidFill>
            <a:srgbClr val="161338"/>
          </a:solidFill>
          <a:ln w="12700">
            <a:solidFill>
              <a:srgbClr val="1613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446770" y="3401568"/>
            <a:ext cx="304038" cy="384048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446520" y="34015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Sessions Evaluated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46520" y="3904488"/>
            <a:ext cx="30403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732270" y="3904488"/>
            <a:ext cx="304038" cy="384048"/>
          </a:xfrm>
          <a:prstGeom prst="rect">
            <a:avLst/>
          </a:prstGeom>
          <a:solidFill>
            <a:srgbClr val="0C8178"/>
          </a:solidFill>
          <a:ln w="12700">
            <a:solidFill>
              <a:srgbClr val="0C81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018020" y="3904488"/>
            <a:ext cx="304038" cy="384048"/>
          </a:xfrm>
          <a:prstGeom prst="rect">
            <a:avLst/>
          </a:prstGeom>
          <a:solidFill>
            <a:srgbClr val="0B6D69"/>
          </a:solidFill>
          <a:ln w="12700">
            <a:solidFill>
              <a:srgbClr val="0B6D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7303770" y="3904488"/>
            <a:ext cx="304038" cy="384048"/>
          </a:xfrm>
          <a:prstGeom prst="rect">
            <a:avLst/>
          </a:prstGeom>
          <a:solidFill>
            <a:srgbClr val="0A5A59"/>
          </a:solidFill>
          <a:ln w="12700">
            <a:solidFill>
              <a:srgbClr val="0A5A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589520" y="3904488"/>
            <a:ext cx="304038" cy="384048"/>
          </a:xfrm>
          <a:prstGeom prst="rect">
            <a:avLst/>
          </a:prstGeom>
          <a:solidFill>
            <a:srgbClr val="084649"/>
          </a:solidFill>
          <a:ln w="12700">
            <a:solidFill>
              <a:srgbClr val="0846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875270" y="3904488"/>
            <a:ext cx="304038" cy="384048"/>
          </a:xfrm>
          <a:prstGeom prst="rect">
            <a:avLst/>
          </a:prstGeom>
          <a:solidFill>
            <a:srgbClr val="073339"/>
          </a:solidFill>
          <a:ln w="12700">
            <a:solidFill>
              <a:srgbClr val="0733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161020" y="3904488"/>
            <a:ext cx="304038" cy="384048"/>
          </a:xfrm>
          <a:prstGeom prst="rect">
            <a:avLst/>
          </a:prstGeom>
          <a:solidFill>
            <a:srgbClr val="061F2A"/>
          </a:solidFill>
          <a:ln w="12700">
            <a:solidFill>
              <a:srgbClr val="061F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8446770" y="3904488"/>
            <a:ext cx="304038" cy="384048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446520" y="39044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AI Architecture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46520" y="4407408"/>
            <a:ext cx="30403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732270" y="4407408"/>
            <a:ext cx="304038" cy="384048"/>
          </a:xfrm>
          <a:prstGeom prst="rect">
            <a:avLst/>
          </a:prstGeom>
          <a:solidFill>
            <a:srgbClr val="D3890D"/>
          </a:solidFill>
          <a:ln w="12700">
            <a:solidFill>
              <a:srgbClr val="D389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7018020" y="4407408"/>
            <a:ext cx="304038" cy="384048"/>
          </a:xfrm>
          <a:prstGeom prst="rect">
            <a:avLst/>
          </a:prstGeom>
          <a:solidFill>
            <a:srgbClr val="B0740F"/>
          </a:solidFill>
          <a:ln w="12700">
            <a:solidFill>
              <a:srgbClr val="B074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7303770" y="4407408"/>
            <a:ext cx="304038" cy="384048"/>
          </a:xfrm>
          <a:prstGeom prst="rect">
            <a:avLst/>
          </a:prstGeom>
          <a:solidFill>
            <a:srgbClr val="8E5F11"/>
          </a:solidFill>
          <a:ln w="12700">
            <a:solidFill>
              <a:srgbClr val="8E5F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7589520" y="4407408"/>
            <a:ext cx="304038" cy="384048"/>
          </a:xfrm>
          <a:prstGeom prst="rect">
            <a:avLst/>
          </a:prstGeom>
          <a:solidFill>
            <a:srgbClr val="6C4B14"/>
          </a:solidFill>
          <a:ln w="12700">
            <a:solidFill>
              <a:srgbClr val="6C4B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7875270" y="4407408"/>
            <a:ext cx="304038" cy="384048"/>
          </a:xfrm>
          <a:prstGeom prst="rect">
            <a:avLst/>
          </a:prstGeom>
          <a:solidFill>
            <a:srgbClr val="4A3616"/>
          </a:solidFill>
          <a:ln w="12700">
            <a:solidFill>
              <a:srgbClr val="4A36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8161020" y="4407408"/>
            <a:ext cx="304038" cy="384048"/>
          </a:xfrm>
          <a:prstGeom prst="rect">
            <a:avLst/>
          </a:prstGeom>
          <a:solidFill>
            <a:srgbClr val="272118"/>
          </a:solidFill>
          <a:ln w="12700">
            <a:solidFill>
              <a:srgbClr val="2721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8446770" y="4407408"/>
            <a:ext cx="304038" cy="384048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446520" y="4407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Deployed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0" y="5093208"/>
            <a:ext cx="1161288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1143000" y="5093208"/>
            <a:ext cx="1161288" cy="50292"/>
          </a:xfrm>
          <a:prstGeom prst="rect">
            <a:avLst/>
          </a:prstGeom>
          <a:solidFill>
            <a:srgbClr val="17A4D8"/>
          </a:solidFill>
          <a:ln w="12700">
            <a:solidFill>
              <a:srgbClr val="17A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2286000" y="5093208"/>
            <a:ext cx="1161288" cy="50292"/>
          </a:xfrm>
          <a:prstGeom prst="rect">
            <a:avLst/>
          </a:prstGeom>
          <a:solidFill>
            <a:srgbClr val="2893DB"/>
          </a:solidFill>
          <a:ln w="12700">
            <a:solidFill>
              <a:srgbClr val="2893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3429000" y="5093208"/>
            <a:ext cx="1161288" cy="50292"/>
          </a:xfrm>
          <a:prstGeom prst="rect">
            <a:avLst/>
          </a:prstGeom>
          <a:solidFill>
            <a:srgbClr val="3981DF"/>
          </a:solidFill>
          <a:ln w="12700">
            <a:solidFill>
              <a:srgbClr val="3981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572000" y="5093208"/>
            <a:ext cx="1161288" cy="50292"/>
          </a:xfrm>
          <a:prstGeom prst="rect">
            <a:avLst/>
          </a:prstGeom>
          <a:solidFill>
            <a:srgbClr val="496FE2"/>
          </a:solidFill>
          <a:ln w="12700">
            <a:solidFill>
              <a:srgbClr val="496F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5715000" y="5093208"/>
            <a:ext cx="1161288" cy="50292"/>
          </a:xfrm>
          <a:prstGeom prst="rect">
            <a:avLst/>
          </a:prstGeom>
          <a:solidFill>
            <a:srgbClr val="5A5DE6"/>
          </a:solidFill>
          <a:ln w="12700">
            <a:solidFill>
              <a:srgbClr val="5A5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6858000" y="5093208"/>
            <a:ext cx="1161288" cy="50292"/>
          </a:xfrm>
          <a:prstGeom prst="rect">
            <a:avLst/>
          </a:prstGeom>
          <a:solidFill>
            <a:srgbClr val="6B4CE9"/>
          </a:solidFill>
          <a:ln w="12700">
            <a:solidFill>
              <a:srgbClr val="6B4C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8001000" y="5093208"/>
            <a:ext cx="1161288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3DF3A798-D30C-78F5-256A-21A041F63A58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869DC80C-8E7A-D9CE-5D74-9A188B35C722}"/>
              </a:ext>
            </a:extLst>
          </p:cNvPr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8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A768F02E-6A4A-92F0-233A-7645156637E3}"/>
              </a:ext>
            </a:extLst>
          </p:cNvPr>
          <p:cNvSpPr/>
          <p:nvPr/>
        </p:nvSpPr>
        <p:spPr>
          <a:xfrm>
            <a:off x="457200" y="594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IntelliHire?</a:t>
            </a:r>
            <a:endParaRPr lang="en-US" sz="340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A8778389-4AC9-463B-2D70-F0B626B923E3}"/>
              </a:ext>
            </a:extLst>
          </p:cNvPr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full-stack, AI-powered virtual interview coaching platform that combines multimodal signal processing, heuristic fusion, classical ML, and generative AI to deliver transparent, job-grounded feedback.</a:t>
            </a:r>
            <a:endParaRPr lang="en-US" sz="1300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C8607F40-B09F-48C8-44DF-E944024D62B3}"/>
              </a:ext>
            </a:extLst>
          </p:cNvPr>
          <p:cNvSpPr/>
          <p:nvPr/>
        </p:nvSpPr>
        <p:spPr>
          <a:xfrm>
            <a:off x="365760" y="2240280"/>
            <a:ext cx="2697480" cy="2377440"/>
          </a:xfrm>
          <a:prstGeom prst="rect">
            <a:avLst/>
          </a:prstGeom>
          <a:solidFill>
            <a:srgbClr val="131F3E"/>
          </a:solidFill>
          <a:ln w="12700">
            <a:solidFill>
              <a:srgbClr val="1E316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DD41247A-F3FC-1896-C4DE-797D446CA40C}"/>
              </a:ext>
            </a:extLst>
          </p:cNvPr>
          <p:cNvSpPr/>
          <p:nvPr/>
        </p:nvSpPr>
        <p:spPr>
          <a:xfrm>
            <a:off x="365760" y="2331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🎙️</a:t>
            </a:r>
            <a:endParaRPr lang="en-US" sz="28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7C8B24AE-0728-D732-5573-3E51068FFA77}"/>
              </a:ext>
            </a:extLst>
          </p:cNvPr>
          <p:cNvSpPr/>
          <p:nvPr/>
        </p:nvSpPr>
        <p:spPr>
          <a:xfrm>
            <a:off x="45720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+ Video Analysis</a:t>
            </a:r>
            <a:endParaRPr lang="en-US" sz="11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6A8B2106-AF21-B3C1-EA18-A931667700FA}"/>
              </a:ext>
            </a:extLst>
          </p:cNvPr>
          <p:cNvSpPr/>
          <p:nvPr/>
        </p:nvSpPr>
        <p:spPr>
          <a:xfrm>
            <a:off x="457200" y="329184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acoustics · MediaPipe face mesh · Real-time HUD</a:t>
            </a:r>
            <a:endParaRPr lang="en-US" sz="950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DD8E4FA6-165B-2263-82E9-7A727C2385C8}"/>
              </a:ext>
            </a:extLst>
          </p:cNvPr>
          <p:cNvSpPr/>
          <p:nvPr/>
        </p:nvSpPr>
        <p:spPr>
          <a:xfrm>
            <a:off x="3246120" y="2240280"/>
            <a:ext cx="2697480" cy="2377440"/>
          </a:xfrm>
          <a:prstGeom prst="rect">
            <a:avLst/>
          </a:prstGeom>
          <a:solidFill>
            <a:srgbClr val="131F3E"/>
          </a:solidFill>
          <a:ln w="12700">
            <a:solidFill>
              <a:srgbClr val="1E316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C452EE40-B902-AC66-657A-78BA43215E9A}"/>
              </a:ext>
            </a:extLst>
          </p:cNvPr>
          <p:cNvSpPr/>
          <p:nvPr/>
        </p:nvSpPr>
        <p:spPr>
          <a:xfrm>
            <a:off x="3246120" y="2331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CF899225-ED87-5E90-2E9E-87AF9318D63E}"/>
              </a:ext>
            </a:extLst>
          </p:cNvPr>
          <p:cNvSpPr/>
          <p:nvPr/>
        </p:nvSpPr>
        <p:spPr>
          <a:xfrm>
            <a:off x="333756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Teacher Layer</a:t>
            </a:r>
            <a:endParaRPr lang="en-US" sz="11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4E937D34-7CEA-348F-C56B-4846EF84F97F}"/>
              </a:ext>
            </a:extLst>
          </p:cNvPr>
          <p:cNvSpPr/>
          <p:nvPr/>
        </p:nvSpPr>
        <p:spPr>
          <a:xfrm>
            <a:off x="3337560" y="329184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Groq LLaMA-3 · Rubric-aligned competency scores</a:t>
            </a:r>
            <a:endParaRPr lang="en-US" sz="950" dirty="0"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77B358B7-3253-7162-B6FE-A02EAFACF0E3}"/>
              </a:ext>
            </a:extLst>
          </p:cNvPr>
          <p:cNvSpPr/>
          <p:nvPr/>
        </p:nvSpPr>
        <p:spPr>
          <a:xfrm>
            <a:off x="6126480" y="2240280"/>
            <a:ext cx="2697480" cy="2377440"/>
          </a:xfrm>
          <a:prstGeom prst="rect">
            <a:avLst/>
          </a:prstGeom>
          <a:solidFill>
            <a:srgbClr val="131F3E"/>
          </a:solidFill>
          <a:ln w="12700">
            <a:solidFill>
              <a:srgbClr val="1E316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E4EF5BBE-3B23-4C4B-0661-584DE54B3A3E}"/>
              </a:ext>
            </a:extLst>
          </p:cNvPr>
          <p:cNvSpPr/>
          <p:nvPr/>
        </p:nvSpPr>
        <p:spPr>
          <a:xfrm>
            <a:off x="6126480" y="2331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1D37CE0D-93B3-ACB0-2A8E-1175016B650F}"/>
              </a:ext>
            </a:extLst>
          </p:cNvPr>
          <p:cNvSpPr/>
          <p:nvPr/>
        </p:nvSpPr>
        <p:spPr>
          <a:xfrm>
            <a:off x="621792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Deployment</a:t>
            </a:r>
            <a:endParaRPr lang="en-US" sz="110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299C1EC3-4F37-4161-C172-0F1FD0808647}"/>
              </a:ext>
            </a:extLst>
          </p:cNvPr>
          <p:cNvSpPr/>
          <p:nvPr/>
        </p:nvSpPr>
        <p:spPr>
          <a:xfrm>
            <a:off x="6217920" y="329184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 · Node/Express API · React/Vite frontend</a:t>
            </a:r>
            <a:endParaRPr lang="en-US" sz="950" dirty="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04949878-BBF0-8F2E-C081-DEA1922ED7A0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7FC27AA5-AE8E-C8AF-61EE-D2C6993D4AB6}"/>
              </a:ext>
            </a:extLst>
          </p:cNvPr>
          <p:cNvSpPr/>
          <p:nvPr/>
        </p:nvSpPr>
        <p:spPr>
          <a:xfrm>
            <a:off x="274320" y="47731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Sessions Evaluated</a:t>
            </a:r>
            <a:endParaRPr lang="en-US" sz="900" dirty="0"/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97B6D19A-2434-29BC-D24E-E8DF27926F7A}"/>
              </a:ext>
            </a:extLst>
          </p:cNvPr>
          <p:cNvSpPr/>
          <p:nvPr/>
        </p:nvSpPr>
        <p:spPr>
          <a:xfrm>
            <a:off x="2468880" y="4828032"/>
            <a:ext cx="0" cy="22860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745A36E6-F832-3AF7-BB18-27B21FDE0D0C}"/>
              </a:ext>
            </a:extLst>
          </p:cNvPr>
          <p:cNvSpPr/>
          <p:nvPr/>
        </p:nvSpPr>
        <p:spPr>
          <a:xfrm>
            <a:off x="2468880" y="47731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AI Architecture</a:t>
            </a:r>
            <a:endParaRPr lang="en-US" sz="900" dirty="0"/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AF9AECEA-11F1-AFBC-A133-7A33E78BF742}"/>
              </a:ext>
            </a:extLst>
          </p:cNvPr>
          <p:cNvSpPr/>
          <p:nvPr/>
        </p:nvSpPr>
        <p:spPr>
          <a:xfrm>
            <a:off x="4663440" y="4828032"/>
            <a:ext cx="0" cy="22860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EA868889-935D-EE5C-0AEE-B8F45FF3123E}"/>
              </a:ext>
            </a:extLst>
          </p:cNvPr>
          <p:cNvSpPr/>
          <p:nvPr/>
        </p:nvSpPr>
        <p:spPr>
          <a:xfrm>
            <a:off x="4663440" y="47731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 Powered</a:t>
            </a:r>
            <a:endParaRPr lang="en-US" sz="900" dirty="0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1E228F96-2501-D77C-BC18-DF1E4429FB21}"/>
              </a:ext>
            </a:extLst>
          </p:cNvPr>
          <p:cNvSpPr/>
          <p:nvPr/>
        </p:nvSpPr>
        <p:spPr>
          <a:xfrm>
            <a:off x="6858000" y="4828032"/>
            <a:ext cx="0" cy="22860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6AB13FE6-5FA7-DF11-D659-AB63800B1B09}"/>
              </a:ext>
            </a:extLst>
          </p:cNvPr>
          <p:cNvSpPr/>
          <p:nvPr/>
        </p:nvSpPr>
        <p:spPr>
          <a:xfrm>
            <a:off x="6858000" y="47731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Deployed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76809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70E1C"/>
          </a:solidFill>
          <a:ln w="12700">
            <a:solidFill>
              <a:srgbClr val="070E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2743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483864" y="0"/>
            <a:ext cx="27432" cy="5143500"/>
          </a:xfrm>
          <a:prstGeom prst="rect">
            <a:avLst/>
          </a:prstGeom>
          <a:solidFill>
            <a:srgbClr val="6B33CF"/>
          </a:solidFill>
          <a:ln w="12700">
            <a:solidFill>
              <a:srgbClr val="6B33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93008" y="0"/>
            <a:ext cx="27432" cy="5143500"/>
          </a:xfrm>
          <a:prstGeom prst="rect">
            <a:avLst/>
          </a:prstGeom>
          <a:solidFill>
            <a:srgbClr val="5A2DB1"/>
          </a:solidFill>
          <a:ln w="12700">
            <a:solidFill>
              <a:srgbClr val="5A2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502152" y="0"/>
            <a:ext cx="27432" cy="5143500"/>
          </a:xfrm>
          <a:prstGeom prst="rect">
            <a:avLst/>
          </a:prstGeom>
          <a:solidFill>
            <a:srgbClr val="492693"/>
          </a:solidFill>
          <a:ln w="12700">
            <a:solidFill>
              <a:srgbClr val="4926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511296" y="0"/>
            <a:ext cx="27432" cy="5143500"/>
          </a:xfrm>
          <a:prstGeom prst="rect">
            <a:avLst/>
          </a:prstGeom>
          <a:solidFill>
            <a:srgbClr val="382074"/>
          </a:solidFill>
          <a:ln w="12700">
            <a:solidFill>
              <a:srgbClr val="3820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520440" y="0"/>
            <a:ext cx="27432" cy="5143500"/>
          </a:xfrm>
          <a:prstGeom prst="rect">
            <a:avLst/>
          </a:prstGeom>
          <a:solidFill>
            <a:srgbClr val="271956"/>
          </a:solidFill>
          <a:ln w="12700">
            <a:solidFill>
              <a:srgbClr val="2719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529584" y="0"/>
            <a:ext cx="27432" cy="5143500"/>
          </a:xfrm>
          <a:prstGeom prst="rect">
            <a:avLst/>
          </a:prstGeom>
          <a:solidFill>
            <a:srgbClr val="161338"/>
          </a:solidFill>
          <a:ln w="12700">
            <a:solidFill>
              <a:srgbClr val="1613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538728" y="0"/>
            <a:ext cx="27432" cy="5143500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54864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5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269748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71500" y="2880360"/>
            <a:ext cx="269748" cy="64008"/>
          </a:xfrm>
          <a:prstGeom prst="rect">
            <a:avLst/>
          </a:prstGeom>
          <a:solidFill>
            <a:srgbClr val="E33E72"/>
          </a:solidFill>
          <a:ln w="12700">
            <a:solidFill>
              <a:srgbClr val="E33E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22960" y="2880360"/>
            <a:ext cx="269748" cy="64008"/>
          </a:xfrm>
          <a:prstGeom prst="rect">
            <a:avLst/>
          </a:prstGeom>
          <a:solidFill>
            <a:srgbClr val="D23E87"/>
          </a:solidFill>
          <a:ln w="12700">
            <a:solidFill>
              <a:srgbClr val="D23E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74420" y="2880360"/>
            <a:ext cx="269748" cy="64008"/>
          </a:xfrm>
          <a:prstGeom prst="rect">
            <a:avLst/>
          </a:prstGeom>
          <a:solidFill>
            <a:srgbClr val="C13D9B"/>
          </a:solidFill>
          <a:ln w="12700">
            <a:solidFill>
              <a:srgbClr val="C13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325880" y="2880360"/>
            <a:ext cx="269748" cy="64008"/>
          </a:xfrm>
          <a:prstGeom prst="rect">
            <a:avLst/>
          </a:prstGeom>
          <a:solidFill>
            <a:srgbClr val="AF3CB0"/>
          </a:solidFill>
          <a:ln w="12700">
            <a:solidFill>
              <a:srgbClr val="AF3C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577340" y="2880360"/>
            <a:ext cx="269748" cy="64008"/>
          </a:xfrm>
          <a:prstGeom prst="rect">
            <a:avLst/>
          </a:prstGeom>
          <a:solidFill>
            <a:srgbClr val="9E3BC4"/>
          </a:solidFill>
          <a:ln w="12700">
            <a:solidFill>
              <a:srgbClr val="9E3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828800" y="2880360"/>
            <a:ext cx="269748" cy="64008"/>
          </a:xfrm>
          <a:prstGeom prst="rect">
            <a:avLst/>
          </a:prstGeom>
          <a:solidFill>
            <a:srgbClr val="8D3BD9"/>
          </a:solidFill>
          <a:ln w="12700">
            <a:solidFill>
              <a:srgbClr val="8D3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080260" y="2880360"/>
            <a:ext cx="26974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" y="30632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tools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short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749040" y="292608"/>
            <a:ext cx="5074920" cy="1389888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749040" y="292608"/>
            <a:ext cx="82296" cy="138988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913632" y="365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913632" y="8229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Gap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913632" y="11612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feedback ignores job-specific requirements. No link between questions and real JD context.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1865376"/>
            <a:ext cx="5074920" cy="1389888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749040" y="1865376"/>
            <a:ext cx="82296" cy="1389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913632" y="19385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913632" y="239572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Fragility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913632" y="27340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collapses when face tracking fails or audio degrades. No fallback mechanism.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49040" y="3438144"/>
            <a:ext cx="5074920" cy="1389888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749040" y="3438144"/>
            <a:ext cx="82296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913632" y="351129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3913632" y="39684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Scoring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913632" y="43068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models give no transparency. Candidates can't understand why they scored low.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49040" y="4809744"/>
            <a:ext cx="652653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383405" y="4809744"/>
            <a:ext cx="652653" cy="329184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017770" y="4809744"/>
            <a:ext cx="652653" cy="329184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652135" y="4809744"/>
            <a:ext cx="652653" cy="329184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286500" y="4809744"/>
            <a:ext cx="652653" cy="329184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920865" y="4809744"/>
            <a:ext cx="652653" cy="329184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555230" y="4809744"/>
            <a:ext cx="652653" cy="329184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189595" y="4809744"/>
            <a:ext cx="652653" cy="32918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749040" y="4809744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IntelliHire solves all three  →  heuristic fusion + classical ML + GenAI + cloud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61288" cy="841248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0"/>
            <a:ext cx="1161288" cy="841248"/>
          </a:xfrm>
          <a:prstGeom prst="rect">
            <a:avLst/>
          </a:prstGeom>
          <a:solidFill>
            <a:srgbClr val="0A182D"/>
          </a:solidFill>
          <a:ln w="12700">
            <a:solidFill>
              <a:srgbClr val="0A1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0"/>
            <a:ext cx="1161288" cy="841248"/>
          </a:xfrm>
          <a:prstGeom prst="rect">
            <a:avLst/>
          </a:prstGeom>
          <a:solidFill>
            <a:srgbClr val="09162A"/>
          </a:solidFill>
          <a:ln w="12700">
            <a:solidFill>
              <a:srgbClr val="0916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0"/>
            <a:ext cx="1161288" cy="841248"/>
          </a:xfrm>
          <a:prstGeom prst="rect">
            <a:avLst/>
          </a:prstGeom>
          <a:solidFill>
            <a:srgbClr val="081427"/>
          </a:solidFill>
          <a:ln w="12700">
            <a:solidFill>
              <a:srgbClr val="0814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1161288" cy="841248"/>
          </a:xfrm>
          <a:prstGeom prst="rect">
            <a:avLst/>
          </a:prstGeom>
          <a:solidFill>
            <a:srgbClr val="081223"/>
          </a:solidFill>
          <a:ln w="12700">
            <a:solidFill>
              <a:srgbClr val="0812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0"/>
            <a:ext cx="1161288" cy="841248"/>
          </a:xfrm>
          <a:prstGeom prst="rect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0"/>
            <a:ext cx="1161288" cy="841248"/>
          </a:xfrm>
          <a:prstGeom prst="rect">
            <a:avLst/>
          </a:prstGeom>
          <a:solidFill>
            <a:srgbClr val="060E1D"/>
          </a:solidFill>
          <a:ln w="12700">
            <a:solidFill>
              <a:srgbClr val="060E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0"/>
            <a:ext cx="1161288" cy="841248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5852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  ·  References [1]–[6]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1005840"/>
            <a:ext cx="6858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6324" y="1005840"/>
            <a:ext cx="68580" cy="219456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56616" y="1005840"/>
            <a:ext cx="68580" cy="219456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06908" y="1005840"/>
            <a:ext cx="68580" cy="219456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1005840"/>
            <a:ext cx="68580" cy="219456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7492" y="1005840"/>
            <a:ext cx="68580" cy="219456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57784" y="1005840"/>
            <a:ext cx="68580" cy="219456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08076" y="1005840"/>
            <a:ext cx="6858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6032" y="100584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[#]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" y="1005840"/>
            <a:ext cx="226314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57834" y="1005840"/>
            <a:ext cx="226314" cy="219456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165860" y="1005840"/>
            <a:ext cx="226314" cy="219456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373886" y="1005840"/>
            <a:ext cx="226314" cy="219456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581912" y="1005840"/>
            <a:ext cx="226314" cy="219456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789938" y="1005840"/>
            <a:ext cx="226314" cy="219456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997964" y="1005840"/>
            <a:ext cx="226314" cy="219456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205990" y="1005840"/>
            <a:ext cx="226314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49808" y="100584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/ Year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87168" y="1005840"/>
            <a:ext cx="418338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887218" y="1005840"/>
            <a:ext cx="418338" cy="219456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287268" y="1005840"/>
            <a:ext cx="418338" cy="219456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687318" y="1005840"/>
            <a:ext cx="418338" cy="219456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087368" y="1005840"/>
            <a:ext cx="418338" cy="219456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487418" y="1005840"/>
            <a:ext cx="418338" cy="219456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87468" y="1005840"/>
            <a:ext cx="418338" cy="219456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287518" y="1005840"/>
            <a:ext cx="418338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487168" y="1005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Key Contribution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60720" y="1005840"/>
            <a:ext cx="393192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135624" y="1005840"/>
            <a:ext cx="393192" cy="219456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510528" y="1005840"/>
            <a:ext cx="393192" cy="219456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885432" y="1005840"/>
            <a:ext cx="393192" cy="219456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260336" y="1005840"/>
            <a:ext cx="393192" cy="219456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635240" y="1005840"/>
            <a:ext cx="393192" cy="219456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010144" y="1005840"/>
            <a:ext cx="393192" cy="219456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385048" y="1005840"/>
            <a:ext cx="393192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760720" y="1005840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6032" y="1261872"/>
            <a:ext cx="8631936" cy="56692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56032" y="1261872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47472" y="133502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" y="129844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Bhavani et al.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9808" y="15727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487168" y="13350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+ WebRTC + spaCy NLP + Flask + React TS. High user satisfaction (92%) with emotion &amp; confidence scoring.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760720" y="133502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security; earlier systems lacked personalization.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6032" y="1901952"/>
            <a:ext cx="8631936" cy="566928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256032" y="1901952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47472" y="197510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49808" y="193852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Chavan &amp; Jadhav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49808" y="221284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487168" y="197510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resume parsing + semantic cosine similarity scoring. Personalized JD-aligned question generation.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760720" y="197510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speech analysis &amp; emotion detection for better accuracy.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56032" y="2542032"/>
            <a:ext cx="8631936" cy="56692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256032" y="2542032"/>
            <a:ext cx="54864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347472" y="261518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49808" y="257860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Kolpe et al.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49808" y="285292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487168" y="261518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for facial emotion, NLP for text, TensorFlow personality recognition. Real-time multimodal coaching.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760720" y="261518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approaches lack personalized responses and weakness insights.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56032" y="3182112"/>
            <a:ext cx="8631936" cy="566928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56032" y="3182112"/>
            <a:ext cx="5486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47472" y="325526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749808" y="32186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Vinodhini S et al.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49808" y="349300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487168" y="325526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+ MFCC audio + MediaPipe/OpenFace video + React. Weighted fusion formula; MA analytics dashboard.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5760720" y="325526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more complex architectures and broader linguistic capabilities.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56032" y="3822192"/>
            <a:ext cx="8631936" cy="56692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256032" y="3822192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47472" y="389534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49808" y="385876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et al.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49808" y="41330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2487168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GPT/BERT/T5 + Google Cloud APIs. Contextual follow-up Qs using sentiment; modular NLU pipeline.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5760720" y="389534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dependent on transcription accuracy; degrades in noise.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56032" y="4462272"/>
            <a:ext cx="8631936" cy="566928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56032" y="4462272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47472" y="453542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749808" y="449884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Verma et al.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49808" y="47731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2487168" y="45354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+ Google Gemini + DeepSpeech. Validated on 200 sessions → 23% interview improvement, 85% confidence boost.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5760720" y="453542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accuracy drops with non-native accents or noisy environments.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61288" cy="841248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0"/>
            <a:ext cx="1161288" cy="841248"/>
          </a:xfrm>
          <a:prstGeom prst="rect">
            <a:avLst/>
          </a:prstGeom>
          <a:solidFill>
            <a:srgbClr val="0A182D"/>
          </a:solidFill>
          <a:ln w="12700">
            <a:solidFill>
              <a:srgbClr val="0A1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0"/>
            <a:ext cx="1161288" cy="841248"/>
          </a:xfrm>
          <a:prstGeom prst="rect">
            <a:avLst/>
          </a:prstGeom>
          <a:solidFill>
            <a:srgbClr val="09162A"/>
          </a:solidFill>
          <a:ln w="12700">
            <a:solidFill>
              <a:srgbClr val="0916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0"/>
            <a:ext cx="1161288" cy="841248"/>
          </a:xfrm>
          <a:prstGeom prst="rect">
            <a:avLst/>
          </a:prstGeom>
          <a:solidFill>
            <a:srgbClr val="081427"/>
          </a:solidFill>
          <a:ln w="12700">
            <a:solidFill>
              <a:srgbClr val="0814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1161288" cy="841248"/>
          </a:xfrm>
          <a:prstGeom prst="rect">
            <a:avLst/>
          </a:prstGeom>
          <a:solidFill>
            <a:srgbClr val="081223"/>
          </a:solidFill>
          <a:ln w="12700">
            <a:solidFill>
              <a:srgbClr val="0812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0"/>
            <a:ext cx="1161288" cy="841248"/>
          </a:xfrm>
          <a:prstGeom prst="rect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0"/>
            <a:ext cx="1161288" cy="841248"/>
          </a:xfrm>
          <a:prstGeom prst="rect">
            <a:avLst/>
          </a:prstGeom>
          <a:solidFill>
            <a:srgbClr val="060E1D"/>
          </a:solidFill>
          <a:ln w="12700">
            <a:solidFill>
              <a:srgbClr val="060E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0"/>
            <a:ext cx="1161288" cy="841248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5852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  ·  References [7]–[11]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1005840"/>
            <a:ext cx="6858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6324" y="1005840"/>
            <a:ext cx="68580" cy="219456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56616" y="1005840"/>
            <a:ext cx="68580" cy="219456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06908" y="1005840"/>
            <a:ext cx="68580" cy="219456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1005840"/>
            <a:ext cx="68580" cy="219456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7492" y="1005840"/>
            <a:ext cx="68580" cy="219456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57784" y="1005840"/>
            <a:ext cx="68580" cy="219456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08076" y="1005840"/>
            <a:ext cx="6858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6032" y="100584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[#]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" y="1005840"/>
            <a:ext cx="226314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57834" y="1005840"/>
            <a:ext cx="226314" cy="219456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165860" y="1005840"/>
            <a:ext cx="226314" cy="219456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373886" y="1005840"/>
            <a:ext cx="226314" cy="219456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581912" y="1005840"/>
            <a:ext cx="226314" cy="219456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789938" y="1005840"/>
            <a:ext cx="226314" cy="219456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997964" y="1005840"/>
            <a:ext cx="226314" cy="219456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205990" y="1005840"/>
            <a:ext cx="226314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49808" y="100584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/ Year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87168" y="1005840"/>
            <a:ext cx="418338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887218" y="1005840"/>
            <a:ext cx="418338" cy="219456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287268" y="1005840"/>
            <a:ext cx="418338" cy="219456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687318" y="1005840"/>
            <a:ext cx="418338" cy="219456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087368" y="1005840"/>
            <a:ext cx="418338" cy="219456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487418" y="1005840"/>
            <a:ext cx="418338" cy="219456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87468" y="1005840"/>
            <a:ext cx="418338" cy="219456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287518" y="1005840"/>
            <a:ext cx="418338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487168" y="1005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Key Contribution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60720" y="1005840"/>
            <a:ext cx="393192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135624" y="1005840"/>
            <a:ext cx="393192" cy="219456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510528" y="1005840"/>
            <a:ext cx="393192" cy="219456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885432" y="1005840"/>
            <a:ext cx="393192" cy="219456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260336" y="1005840"/>
            <a:ext cx="393192" cy="219456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635240" y="1005840"/>
            <a:ext cx="393192" cy="219456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010144" y="1005840"/>
            <a:ext cx="393192" cy="219456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385048" y="1005840"/>
            <a:ext cx="393192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760720" y="1005840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6032" y="1261872"/>
            <a:ext cx="8631936" cy="56692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56032" y="1261872"/>
            <a:ext cx="54864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47472" y="133502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" y="129844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Koutsoumpis et al.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9808" y="15727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487168" y="13350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+ Parselmouth + OpenFace + S-BERT. 80 handcrafted feature groups; 710-participant crowdsourced dataset.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760720" y="133502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Test-retest reliability below standards for high-stakes selection.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6032" y="1901952"/>
            <a:ext cx="8631936" cy="566928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256032" y="1901952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47472" y="197510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49808" y="193852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Daryanto et al.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49808" y="221284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487168" y="197510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(simulation) + GPT-4 (dialogic feedback). Qualitative; 19-participant study on reflective learning.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760720" y="197510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focus only; no quantitative efficacy measurement.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56032" y="2542032"/>
            <a:ext cx="8631936" cy="56692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256032" y="2542032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347472" y="261518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49808" y="257860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Agrawal et al.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49808" y="285292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487168" y="261518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SVC + Multitask Lasso. MIT Interview Dataset (138 videos). 9 behavioral labels classified.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760720" y="261518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limited (169 videos); lacks hand movement &amp; posture analysis.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56032" y="3182112"/>
            <a:ext cx="8631936" cy="566928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56032" y="3182112"/>
            <a:ext cx="54864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47472" y="325526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749808" y="32186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et al.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49808" y="349300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487168" y="325526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GPT-3.5-Turbo LLM. Resume + JD parsing → tailored question generation per role. Session-based workflow.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5760720" y="325526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literature lacked role-based assessment and tailored questioning.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56032" y="3822192"/>
            <a:ext cx="8631936" cy="56692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256032" y="3822192"/>
            <a:ext cx="5486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47472" y="389534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49808" y="385876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A et al.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49808" y="41330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2487168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+ transformers with attention. 150 expert assessments; correlation coefficient of 0.81.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5760720" y="389534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rule-based systems limited in handling diverse open-ended responses.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61288" cy="841248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0"/>
            <a:ext cx="1161288" cy="841248"/>
          </a:xfrm>
          <a:prstGeom prst="rect">
            <a:avLst/>
          </a:prstGeom>
          <a:solidFill>
            <a:srgbClr val="0A182D"/>
          </a:solidFill>
          <a:ln w="12700">
            <a:solidFill>
              <a:srgbClr val="0A1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0"/>
            <a:ext cx="1161288" cy="841248"/>
          </a:xfrm>
          <a:prstGeom prst="rect">
            <a:avLst/>
          </a:prstGeom>
          <a:solidFill>
            <a:srgbClr val="09162A"/>
          </a:solidFill>
          <a:ln w="12700">
            <a:solidFill>
              <a:srgbClr val="0916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0"/>
            <a:ext cx="1161288" cy="841248"/>
          </a:xfrm>
          <a:prstGeom prst="rect">
            <a:avLst/>
          </a:prstGeom>
          <a:solidFill>
            <a:srgbClr val="081427"/>
          </a:solidFill>
          <a:ln w="12700">
            <a:solidFill>
              <a:srgbClr val="0814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1161288" cy="841248"/>
          </a:xfrm>
          <a:prstGeom prst="rect">
            <a:avLst/>
          </a:prstGeom>
          <a:solidFill>
            <a:srgbClr val="081223"/>
          </a:solidFill>
          <a:ln w="12700">
            <a:solidFill>
              <a:srgbClr val="0812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0"/>
            <a:ext cx="1161288" cy="841248"/>
          </a:xfrm>
          <a:prstGeom prst="rect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0"/>
            <a:ext cx="1161288" cy="841248"/>
          </a:xfrm>
          <a:prstGeom prst="rect">
            <a:avLst/>
          </a:prstGeom>
          <a:solidFill>
            <a:srgbClr val="060E1D"/>
          </a:solidFill>
          <a:ln w="12700">
            <a:solidFill>
              <a:srgbClr val="060E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0"/>
            <a:ext cx="1161288" cy="841248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5852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3  ·  References [12]–[16]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1005840"/>
            <a:ext cx="6858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6324" y="1005840"/>
            <a:ext cx="68580" cy="219456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56616" y="1005840"/>
            <a:ext cx="68580" cy="219456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06908" y="1005840"/>
            <a:ext cx="68580" cy="219456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1005840"/>
            <a:ext cx="68580" cy="219456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7492" y="1005840"/>
            <a:ext cx="68580" cy="219456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57784" y="1005840"/>
            <a:ext cx="68580" cy="219456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08076" y="1005840"/>
            <a:ext cx="6858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6032" y="100584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[#]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" y="1005840"/>
            <a:ext cx="226314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57834" y="1005840"/>
            <a:ext cx="226314" cy="219456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165860" y="1005840"/>
            <a:ext cx="226314" cy="219456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373886" y="1005840"/>
            <a:ext cx="226314" cy="219456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581912" y="1005840"/>
            <a:ext cx="226314" cy="219456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789938" y="1005840"/>
            <a:ext cx="226314" cy="219456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997964" y="1005840"/>
            <a:ext cx="226314" cy="219456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205990" y="1005840"/>
            <a:ext cx="226314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49808" y="100584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/ Year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87168" y="1005840"/>
            <a:ext cx="418338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887218" y="1005840"/>
            <a:ext cx="418338" cy="219456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287268" y="1005840"/>
            <a:ext cx="418338" cy="219456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687318" y="1005840"/>
            <a:ext cx="418338" cy="219456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087368" y="1005840"/>
            <a:ext cx="418338" cy="219456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487418" y="1005840"/>
            <a:ext cx="418338" cy="219456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87468" y="1005840"/>
            <a:ext cx="418338" cy="219456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287518" y="1005840"/>
            <a:ext cx="418338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487168" y="1005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Key Contribution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60720" y="1005840"/>
            <a:ext cx="393192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135624" y="1005840"/>
            <a:ext cx="393192" cy="219456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510528" y="1005840"/>
            <a:ext cx="393192" cy="219456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885432" y="1005840"/>
            <a:ext cx="393192" cy="219456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260336" y="1005840"/>
            <a:ext cx="393192" cy="219456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635240" y="1005840"/>
            <a:ext cx="393192" cy="219456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010144" y="1005840"/>
            <a:ext cx="393192" cy="219456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385048" y="1005840"/>
            <a:ext cx="393192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760720" y="1005840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6032" y="1261872"/>
            <a:ext cx="8631936" cy="56692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56032" y="1261872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47472" y="133502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" y="129844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9808" y="15727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487168" y="13350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SigLIP2 + emotion2vec + SFR-Embedding-Mistral. MSCMLP fusion + 2-level ensemble. AVI Challenge 1st place.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760720" y="133502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contributions from significantly different input modalities.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6032" y="1901952"/>
            <a:ext cx="8631936" cy="566928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256032" y="1901952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47472" y="197510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49808" y="193852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Deshmukh et al.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49808" y="221284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487168" y="197510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+ Whisper API (ASR) + Wit.ai TTS. Dual feedback: per-answer formative + summative final report.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760720" y="197510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 non-verbal and prosodic cues that human interviewers weigh heavily.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56032" y="2542032"/>
            <a:ext cx="8631936" cy="56692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256032" y="2542032"/>
            <a:ext cx="54864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347472" y="261518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49808" y="257860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Nofal et al.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49808" y="285292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487168" y="261518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family + RoBERTa sentiment + Unity 3D (VR). 83-student study; fairness analysis re: LLM bias.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760720" y="261518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feedback risk based on candidate background depending on LLM.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56032" y="3182112"/>
            <a:ext cx="8631936" cy="566928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56032" y="3182112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47472" y="325526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749808" y="32186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Gomez &amp; Batham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49808" y="349300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487168" y="325526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 + whiteboard AI. 20 CS students; LeetCode interview simulation with real-time feedback.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5760720" y="325526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with conversational flow and timing during interactive sessions.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56032" y="3822192"/>
            <a:ext cx="8631936" cy="56692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256032" y="3822192"/>
            <a:ext cx="54864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47472" y="389534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49808" y="385876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et al.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49808" y="41330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2487168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GPT-3.5, GPT-4, Google Gemini compared. 29 participants; 6-parameter index. Gemini best quality-speed balance.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5760720" y="389534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speed sensitive to text length; LLMs face occasional misunderstandings.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56032" y="4480560"/>
            <a:ext cx="109728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1335024" y="4480560"/>
            <a:ext cx="1097280" cy="420624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2414016" y="4480560"/>
            <a:ext cx="1097280" cy="420624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3493008" y="4480560"/>
            <a:ext cx="1097280" cy="420624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4572000" y="4480560"/>
            <a:ext cx="1097280" cy="420624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5650992" y="4480560"/>
            <a:ext cx="1097280" cy="420624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6729984" y="4480560"/>
            <a:ext cx="1097280" cy="420624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7808976" y="4480560"/>
            <a:ext cx="1097280" cy="42062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347472" y="4480560"/>
            <a:ext cx="8449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No prior work combines JD-grounded RAG + deterministic heuristic fusion + HF cloud deployment in a single reproducible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61288" cy="841248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0"/>
            <a:ext cx="1161288" cy="841248"/>
          </a:xfrm>
          <a:prstGeom prst="rect">
            <a:avLst/>
          </a:prstGeom>
          <a:solidFill>
            <a:srgbClr val="0A182D"/>
          </a:solidFill>
          <a:ln w="12700">
            <a:solidFill>
              <a:srgbClr val="0A1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0"/>
            <a:ext cx="1161288" cy="841248"/>
          </a:xfrm>
          <a:prstGeom prst="rect">
            <a:avLst/>
          </a:prstGeom>
          <a:solidFill>
            <a:srgbClr val="09162A"/>
          </a:solidFill>
          <a:ln w="12700">
            <a:solidFill>
              <a:srgbClr val="0916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0"/>
            <a:ext cx="1161288" cy="841248"/>
          </a:xfrm>
          <a:prstGeom prst="rect">
            <a:avLst/>
          </a:prstGeom>
          <a:solidFill>
            <a:srgbClr val="081427"/>
          </a:solidFill>
          <a:ln w="12700">
            <a:solidFill>
              <a:srgbClr val="0814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1161288" cy="841248"/>
          </a:xfrm>
          <a:prstGeom prst="rect">
            <a:avLst/>
          </a:prstGeom>
          <a:solidFill>
            <a:srgbClr val="081223"/>
          </a:solidFill>
          <a:ln w="12700">
            <a:solidFill>
              <a:srgbClr val="0812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0"/>
            <a:ext cx="1161288" cy="841248"/>
          </a:xfrm>
          <a:prstGeom prst="rect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0"/>
            <a:ext cx="1161288" cy="841248"/>
          </a:xfrm>
          <a:prstGeom prst="rect">
            <a:avLst/>
          </a:prstGeom>
          <a:solidFill>
            <a:srgbClr val="060E1D"/>
          </a:solidFill>
          <a:ln w="12700">
            <a:solidFill>
              <a:srgbClr val="060E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0"/>
            <a:ext cx="1161288" cy="841248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5852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multimodal pipeline  ·  diagram to be inserted by author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960120"/>
            <a:ext cx="8229600" cy="3886200"/>
          </a:xfrm>
          <a:prstGeom prst="rect">
            <a:avLst/>
          </a:prstGeom>
          <a:solidFill>
            <a:srgbClr val="0F2540"/>
          </a:solidFill>
          <a:ln w="19050">
            <a:solidFill>
              <a:srgbClr val="1E3A5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931920" y="1920240"/>
            <a:ext cx="1280160" cy="128016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9319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Architecture Diagram Here 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8221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system architecture image will replace this slide.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EA85F2C-FA40-8394-D3E3-0F2512ACFF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14"/>
          <a:stretch>
            <a:fillRect/>
          </a:stretch>
        </p:blipFill>
        <p:spPr>
          <a:xfrm>
            <a:off x="679469" y="995289"/>
            <a:ext cx="7821637" cy="38348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INTERVIEW MODES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532638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71550" y="658368"/>
            <a:ext cx="532638" cy="45720"/>
          </a:xfrm>
          <a:prstGeom prst="rect">
            <a:avLst/>
          </a:prstGeom>
          <a:solidFill>
            <a:srgbClr val="069EB9"/>
          </a:solidFill>
          <a:ln w="12700">
            <a:solidFill>
              <a:srgbClr val="069E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485900" y="658368"/>
            <a:ext cx="532638" cy="45720"/>
          </a:xfrm>
          <a:prstGeom prst="rect">
            <a:avLst/>
          </a:prstGeom>
          <a:solidFill>
            <a:srgbClr val="06859F"/>
          </a:solidFill>
          <a:ln w="12700">
            <a:solidFill>
              <a:srgbClr val="0685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000250" y="658368"/>
            <a:ext cx="532638" cy="45720"/>
          </a:xfrm>
          <a:prstGeom prst="rect">
            <a:avLst/>
          </a:prstGeom>
          <a:solidFill>
            <a:srgbClr val="066D84"/>
          </a:solidFill>
          <a:ln w="12700">
            <a:solidFill>
              <a:srgbClr val="066D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514600" y="658368"/>
            <a:ext cx="532638" cy="45720"/>
          </a:xfrm>
          <a:prstGeom prst="rect">
            <a:avLst/>
          </a:prstGeom>
          <a:solidFill>
            <a:srgbClr val="05556A"/>
          </a:solidFill>
          <a:ln w="12700">
            <a:solidFill>
              <a:srgbClr val="055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028950" y="658368"/>
            <a:ext cx="532638" cy="45720"/>
          </a:xfrm>
          <a:prstGeom prst="rect">
            <a:avLst/>
          </a:prstGeom>
          <a:solidFill>
            <a:srgbClr val="053D4F"/>
          </a:solidFill>
          <a:ln w="12700">
            <a:solidFill>
              <a:srgbClr val="053D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543300" y="658368"/>
            <a:ext cx="532638" cy="45720"/>
          </a:xfrm>
          <a:prstGeom prst="rect">
            <a:avLst/>
          </a:prstGeom>
          <a:solidFill>
            <a:srgbClr val="052435"/>
          </a:solidFill>
          <a:ln w="12700">
            <a:solidFill>
              <a:srgbClr val="0524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057650" y="658368"/>
            <a:ext cx="532638" cy="45720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822960"/>
            <a:ext cx="2788920" cy="41605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822960"/>
            <a:ext cx="366903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22935" y="822960"/>
            <a:ext cx="366903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71550" y="822960"/>
            <a:ext cx="366903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320165" y="822960"/>
            <a:ext cx="366903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668780" y="822960"/>
            <a:ext cx="366903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017395" y="822960"/>
            <a:ext cx="366903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366010" y="822960"/>
            <a:ext cx="366903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14625" y="822960"/>
            <a:ext cx="366903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005840"/>
            <a:ext cx="685800" cy="685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84048" y="173736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Mode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731520" y="2176272"/>
            <a:ext cx="252603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965835" y="2176272"/>
            <a:ext cx="252603" cy="274320"/>
          </a:xfrm>
          <a:prstGeom prst="rect">
            <a:avLst/>
          </a:prstGeom>
          <a:solidFill>
            <a:srgbClr val="10A6D6"/>
          </a:solidFill>
          <a:ln w="12700">
            <a:solidFill>
              <a:srgbClr val="10A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1200150" y="2176272"/>
            <a:ext cx="252603" cy="274320"/>
          </a:xfrm>
          <a:prstGeom prst="rect">
            <a:avLst/>
          </a:prstGeom>
          <a:solidFill>
            <a:srgbClr val="1B96D9"/>
          </a:solidFill>
          <a:ln w="12700">
            <a:solidFill>
              <a:srgbClr val="1B96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1434465" y="2176272"/>
            <a:ext cx="252603" cy="274320"/>
          </a:xfrm>
          <a:prstGeom prst="rect">
            <a:avLst/>
          </a:prstGeom>
          <a:solidFill>
            <a:srgbClr val="2586DB"/>
          </a:solidFill>
          <a:ln w="12700">
            <a:solidFill>
              <a:srgbClr val="258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1668780" y="2176272"/>
            <a:ext cx="252603" cy="274320"/>
          </a:xfrm>
          <a:prstGeom prst="rect">
            <a:avLst/>
          </a:prstGeom>
          <a:solidFill>
            <a:srgbClr val="3076DE"/>
          </a:solidFill>
          <a:ln w="12700">
            <a:solidFill>
              <a:srgbClr val="3076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1903095" y="2176272"/>
            <a:ext cx="252603" cy="274320"/>
          </a:xfrm>
          <a:prstGeom prst="rect">
            <a:avLst/>
          </a:prstGeom>
          <a:solidFill>
            <a:srgbClr val="3A66E0"/>
          </a:solidFill>
          <a:ln w="12700">
            <a:solidFill>
              <a:srgbClr val="3A66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137410" y="2176272"/>
            <a:ext cx="252603" cy="274320"/>
          </a:xfrm>
          <a:prstGeom prst="rect">
            <a:avLst/>
          </a:prstGeom>
          <a:solidFill>
            <a:srgbClr val="4556E3"/>
          </a:solidFill>
          <a:ln w="12700">
            <a:solidFill>
              <a:srgbClr val="4556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2371725" y="2176272"/>
            <a:ext cx="252603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731520" y="21762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Drill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38912" y="2633472"/>
            <a:ext cx="2459736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438912" y="2633472"/>
            <a:ext cx="4572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48640" y="26700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question library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38912" y="3136392"/>
            <a:ext cx="2459736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438912" y="3136392"/>
            <a:ext cx="4572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548640" y="31729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topic generator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38912" y="3639312"/>
            <a:ext cx="2459736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438912" y="3639312"/>
            <a:ext cx="4572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548640" y="36758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competency scoring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38912" y="4142232"/>
            <a:ext cx="2459736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438912" y="4142232"/>
            <a:ext cx="4572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548640" y="41788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loop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3246120" y="822960"/>
            <a:ext cx="2788920" cy="41605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1"/>
          <p:cNvSpPr/>
          <p:nvPr/>
        </p:nvSpPr>
        <p:spPr>
          <a:xfrm>
            <a:off x="3246120" y="822960"/>
            <a:ext cx="366903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3594735" y="822960"/>
            <a:ext cx="366903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3943350" y="822960"/>
            <a:ext cx="366903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4291965" y="822960"/>
            <a:ext cx="366903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5"/>
          <p:cNvSpPr/>
          <p:nvPr/>
        </p:nvSpPr>
        <p:spPr>
          <a:xfrm>
            <a:off x="4640580" y="822960"/>
            <a:ext cx="366903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6"/>
          <p:cNvSpPr/>
          <p:nvPr/>
        </p:nvSpPr>
        <p:spPr>
          <a:xfrm>
            <a:off x="4989195" y="822960"/>
            <a:ext cx="366903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7"/>
          <p:cNvSpPr/>
          <p:nvPr/>
        </p:nvSpPr>
        <p:spPr>
          <a:xfrm>
            <a:off x="5337810" y="822960"/>
            <a:ext cx="366903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8"/>
          <p:cNvSpPr/>
          <p:nvPr/>
        </p:nvSpPr>
        <p:spPr>
          <a:xfrm>
            <a:off x="5686425" y="822960"/>
            <a:ext cx="366903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005840"/>
            <a:ext cx="685800" cy="685800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3355848" y="173736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Mode</a:t>
            </a:r>
            <a:endParaRPr lang="en-US" sz="1550" dirty="0"/>
          </a:p>
        </p:txBody>
      </p:sp>
      <p:sp>
        <p:nvSpPr>
          <p:cNvPr id="54" name="Shape 50"/>
          <p:cNvSpPr/>
          <p:nvPr/>
        </p:nvSpPr>
        <p:spPr>
          <a:xfrm>
            <a:off x="3703320" y="2176272"/>
            <a:ext cx="252603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1"/>
          <p:cNvSpPr/>
          <p:nvPr/>
        </p:nvSpPr>
        <p:spPr>
          <a:xfrm>
            <a:off x="3937635" y="2176272"/>
            <a:ext cx="252603" cy="274320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2"/>
          <p:cNvSpPr/>
          <p:nvPr/>
        </p:nvSpPr>
        <p:spPr>
          <a:xfrm>
            <a:off x="4171950" y="2176272"/>
            <a:ext cx="252603" cy="274320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3"/>
          <p:cNvSpPr/>
          <p:nvPr/>
        </p:nvSpPr>
        <p:spPr>
          <a:xfrm>
            <a:off x="4406265" y="2176272"/>
            <a:ext cx="252603" cy="274320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4"/>
          <p:cNvSpPr/>
          <p:nvPr/>
        </p:nvSpPr>
        <p:spPr>
          <a:xfrm>
            <a:off x="4640580" y="2176272"/>
            <a:ext cx="252603" cy="274320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5"/>
          <p:cNvSpPr/>
          <p:nvPr/>
        </p:nvSpPr>
        <p:spPr>
          <a:xfrm>
            <a:off x="4874895" y="2176272"/>
            <a:ext cx="252603" cy="274320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5109210" y="2176272"/>
            <a:ext cx="252603" cy="274320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7"/>
          <p:cNvSpPr/>
          <p:nvPr/>
        </p:nvSpPr>
        <p:spPr>
          <a:xfrm>
            <a:off x="5343525" y="2176272"/>
            <a:ext cx="252603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8"/>
          <p:cNvSpPr/>
          <p:nvPr/>
        </p:nvSpPr>
        <p:spPr>
          <a:xfrm>
            <a:off x="3703320" y="21762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Prep</a:t>
            </a:r>
            <a:endParaRPr lang="en-US" sz="950" dirty="0"/>
          </a:p>
        </p:txBody>
      </p:sp>
      <p:sp>
        <p:nvSpPr>
          <p:cNvPr id="63" name="Shape 59"/>
          <p:cNvSpPr/>
          <p:nvPr/>
        </p:nvSpPr>
        <p:spPr>
          <a:xfrm>
            <a:off x="3410712" y="2633472"/>
            <a:ext cx="2459736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0"/>
          <p:cNvSpPr/>
          <p:nvPr/>
        </p:nvSpPr>
        <p:spPr>
          <a:xfrm>
            <a:off x="3410712" y="2633472"/>
            <a:ext cx="4572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1"/>
          <p:cNvSpPr/>
          <p:nvPr/>
        </p:nvSpPr>
        <p:spPr>
          <a:xfrm>
            <a:off x="3520440" y="26700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job description</a:t>
            </a:r>
            <a:endParaRPr lang="en-US" sz="1050" dirty="0"/>
          </a:p>
        </p:txBody>
      </p:sp>
      <p:sp>
        <p:nvSpPr>
          <p:cNvPr id="66" name="Shape 62"/>
          <p:cNvSpPr/>
          <p:nvPr/>
        </p:nvSpPr>
        <p:spPr>
          <a:xfrm>
            <a:off x="3410712" y="3136392"/>
            <a:ext cx="2459736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3410712" y="3136392"/>
            <a:ext cx="4572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3520440" y="31729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8 key skills</a:t>
            </a:r>
            <a:endParaRPr lang="en-US" sz="1050" dirty="0"/>
          </a:p>
        </p:txBody>
      </p:sp>
      <p:sp>
        <p:nvSpPr>
          <p:cNvPr id="69" name="Shape 65"/>
          <p:cNvSpPr/>
          <p:nvPr/>
        </p:nvSpPr>
        <p:spPr>
          <a:xfrm>
            <a:off x="3410712" y="3639312"/>
            <a:ext cx="2459736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6"/>
          <p:cNvSpPr/>
          <p:nvPr/>
        </p:nvSpPr>
        <p:spPr>
          <a:xfrm>
            <a:off x="3410712" y="3639312"/>
            <a:ext cx="4572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7"/>
          <p:cNvSpPr/>
          <p:nvPr/>
        </p:nvSpPr>
        <p:spPr>
          <a:xfrm>
            <a:off x="3520440" y="36758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grounded Qs</a:t>
            </a:r>
            <a:endParaRPr lang="en-US" sz="1050" dirty="0"/>
          </a:p>
        </p:txBody>
      </p:sp>
      <p:sp>
        <p:nvSpPr>
          <p:cNvPr id="72" name="Shape 68"/>
          <p:cNvSpPr/>
          <p:nvPr/>
        </p:nvSpPr>
        <p:spPr>
          <a:xfrm>
            <a:off x="3410712" y="4142232"/>
            <a:ext cx="2459736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69"/>
          <p:cNvSpPr/>
          <p:nvPr/>
        </p:nvSpPr>
        <p:spPr>
          <a:xfrm>
            <a:off x="3410712" y="4142232"/>
            <a:ext cx="4572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0"/>
          <p:cNvSpPr/>
          <p:nvPr/>
        </p:nvSpPr>
        <p:spPr>
          <a:xfrm>
            <a:off x="3520440" y="41788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RAG-teacher feedback</a:t>
            </a:r>
            <a:endParaRPr lang="en-US" sz="1050" dirty="0"/>
          </a:p>
        </p:txBody>
      </p:sp>
      <p:sp>
        <p:nvSpPr>
          <p:cNvPr id="75" name="Shape 71"/>
          <p:cNvSpPr/>
          <p:nvPr/>
        </p:nvSpPr>
        <p:spPr>
          <a:xfrm>
            <a:off x="6217920" y="822960"/>
            <a:ext cx="2788920" cy="41605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6" name="Shape 72"/>
          <p:cNvSpPr/>
          <p:nvPr/>
        </p:nvSpPr>
        <p:spPr>
          <a:xfrm>
            <a:off x="6217920" y="822960"/>
            <a:ext cx="366903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3"/>
          <p:cNvSpPr/>
          <p:nvPr/>
        </p:nvSpPr>
        <p:spPr>
          <a:xfrm>
            <a:off x="6566535" y="822960"/>
            <a:ext cx="366903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4"/>
          <p:cNvSpPr/>
          <p:nvPr/>
        </p:nvSpPr>
        <p:spPr>
          <a:xfrm>
            <a:off x="6915150" y="822960"/>
            <a:ext cx="366903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5"/>
          <p:cNvSpPr/>
          <p:nvPr/>
        </p:nvSpPr>
        <p:spPr>
          <a:xfrm>
            <a:off x="7263765" y="822960"/>
            <a:ext cx="366903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6"/>
          <p:cNvSpPr/>
          <p:nvPr/>
        </p:nvSpPr>
        <p:spPr>
          <a:xfrm>
            <a:off x="7612380" y="822960"/>
            <a:ext cx="366903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7"/>
          <p:cNvSpPr/>
          <p:nvPr/>
        </p:nvSpPr>
        <p:spPr>
          <a:xfrm>
            <a:off x="7960995" y="822960"/>
            <a:ext cx="366903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78"/>
          <p:cNvSpPr/>
          <p:nvPr/>
        </p:nvSpPr>
        <p:spPr>
          <a:xfrm>
            <a:off x="8309610" y="822960"/>
            <a:ext cx="366903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8658225" y="822960"/>
            <a:ext cx="366903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005840"/>
            <a:ext cx="685800" cy="685800"/>
          </a:xfrm>
          <a:prstGeom prst="rect">
            <a:avLst/>
          </a:prstGeom>
        </p:spPr>
      </p:pic>
      <p:sp>
        <p:nvSpPr>
          <p:cNvPr id="85" name="Text 80"/>
          <p:cNvSpPr/>
          <p:nvPr/>
        </p:nvSpPr>
        <p:spPr>
          <a:xfrm>
            <a:off x="6327648" y="173736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Interview</a:t>
            </a:r>
            <a:endParaRPr lang="en-US" sz="1550" dirty="0"/>
          </a:p>
        </p:txBody>
      </p:sp>
      <p:sp>
        <p:nvSpPr>
          <p:cNvPr id="86" name="Shape 81"/>
          <p:cNvSpPr/>
          <p:nvPr/>
        </p:nvSpPr>
        <p:spPr>
          <a:xfrm>
            <a:off x="6675120" y="2176272"/>
            <a:ext cx="252603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2"/>
          <p:cNvSpPr/>
          <p:nvPr/>
        </p:nvSpPr>
        <p:spPr>
          <a:xfrm>
            <a:off x="6909435" y="2176272"/>
            <a:ext cx="252603" cy="274320"/>
          </a:xfrm>
          <a:prstGeom prst="rect">
            <a:avLst/>
          </a:prstGeom>
          <a:solidFill>
            <a:srgbClr val="19A98F"/>
          </a:solidFill>
          <a:ln w="12700">
            <a:solidFill>
              <a:srgbClr val="19A9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3"/>
          <p:cNvSpPr/>
          <p:nvPr/>
        </p:nvSpPr>
        <p:spPr>
          <a:xfrm>
            <a:off x="7143750" y="2176272"/>
            <a:ext cx="252603" cy="274320"/>
          </a:xfrm>
          <a:prstGeom prst="rect">
            <a:avLst/>
          </a:prstGeom>
          <a:solidFill>
            <a:srgbClr val="22989E"/>
          </a:solidFill>
          <a:ln w="12700">
            <a:solidFill>
              <a:srgbClr val="2298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4"/>
          <p:cNvSpPr/>
          <p:nvPr/>
        </p:nvSpPr>
        <p:spPr>
          <a:xfrm>
            <a:off x="7378065" y="2176272"/>
            <a:ext cx="252603" cy="274320"/>
          </a:xfrm>
          <a:prstGeom prst="rect">
            <a:avLst/>
          </a:prstGeom>
          <a:solidFill>
            <a:srgbClr val="2B88AC"/>
          </a:solidFill>
          <a:ln w="12700">
            <a:solidFill>
              <a:srgbClr val="2B88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5"/>
          <p:cNvSpPr/>
          <p:nvPr/>
        </p:nvSpPr>
        <p:spPr>
          <a:xfrm>
            <a:off x="7612380" y="2176272"/>
            <a:ext cx="252603" cy="274320"/>
          </a:xfrm>
          <a:prstGeom prst="rect">
            <a:avLst/>
          </a:prstGeom>
          <a:solidFill>
            <a:srgbClr val="3477BA"/>
          </a:solidFill>
          <a:ln w="12700">
            <a:solidFill>
              <a:srgbClr val="3477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6"/>
          <p:cNvSpPr/>
          <p:nvPr/>
        </p:nvSpPr>
        <p:spPr>
          <a:xfrm>
            <a:off x="7846695" y="2176272"/>
            <a:ext cx="252603" cy="274320"/>
          </a:xfrm>
          <a:prstGeom prst="rect">
            <a:avLst/>
          </a:prstGeom>
          <a:solidFill>
            <a:srgbClr val="3D67C8"/>
          </a:solidFill>
          <a:ln w="12700">
            <a:solidFill>
              <a:srgbClr val="3D67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7"/>
          <p:cNvSpPr/>
          <p:nvPr/>
        </p:nvSpPr>
        <p:spPr>
          <a:xfrm>
            <a:off x="8081010" y="2176272"/>
            <a:ext cx="252603" cy="274320"/>
          </a:xfrm>
          <a:prstGeom prst="rect">
            <a:avLst/>
          </a:prstGeom>
          <a:solidFill>
            <a:srgbClr val="4656D7"/>
          </a:solidFill>
          <a:ln w="12700">
            <a:solidFill>
              <a:srgbClr val="4656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8"/>
          <p:cNvSpPr/>
          <p:nvPr/>
        </p:nvSpPr>
        <p:spPr>
          <a:xfrm>
            <a:off x="8315325" y="2176272"/>
            <a:ext cx="252603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6675120" y="21762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Interview</a:t>
            </a:r>
            <a:endParaRPr lang="en-US" sz="950" dirty="0"/>
          </a:p>
        </p:txBody>
      </p:sp>
      <p:sp>
        <p:nvSpPr>
          <p:cNvPr id="95" name="Shape 90"/>
          <p:cNvSpPr/>
          <p:nvPr/>
        </p:nvSpPr>
        <p:spPr>
          <a:xfrm>
            <a:off x="6382512" y="2633472"/>
            <a:ext cx="2459736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1"/>
          <p:cNvSpPr/>
          <p:nvPr/>
        </p:nvSpPr>
        <p:spPr>
          <a:xfrm>
            <a:off x="6382512" y="2633472"/>
            <a:ext cx="457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2"/>
          <p:cNvSpPr/>
          <p:nvPr/>
        </p:nvSpPr>
        <p:spPr>
          <a:xfrm>
            <a:off x="6492240" y="26700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mic capture</a:t>
            </a:r>
            <a:endParaRPr lang="en-US" sz="1050" dirty="0"/>
          </a:p>
        </p:txBody>
      </p:sp>
      <p:sp>
        <p:nvSpPr>
          <p:cNvPr id="98" name="Shape 93"/>
          <p:cNvSpPr/>
          <p:nvPr/>
        </p:nvSpPr>
        <p:spPr>
          <a:xfrm>
            <a:off x="6382512" y="3136392"/>
            <a:ext cx="2459736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4"/>
          <p:cNvSpPr/>
          <p:nvPr/>
        </p:nvSpPr>
        <p:spPr>
          <a:xfrm>
            <a:off x="6382512" y="3136392"/>
            <a:ext cx="457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6492240" y="31729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HUD metrics</a:t>
            </a:r>
            <a:endParaRPr lang="en-US" sz="1050" dirty="0"/>
          </a:p>
        </p:txBody>
      </p:sp>
      <p:sp>
        <p:nvSpPr>
          <p:cNvPr id="101" name="Shape 96"/>
          <p:cNvSpPr/>
          <p:nvPr/>
        </p:nvSpPr>
        <p:spPr>
          <a:xfrm>
            <a:off x="6382512" y="3639312"/>
            <a:ext cx="2459736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97"/>
          <p:cNvSpPr/>
          <p:nvPr/>
        </p:nvSpPr>
        <p:spPr>
          <a:xfrm>
            <a:off x="6382512" y="3639312"/>
            <a:ext cx="457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8"/>
          <p:cNvSpPr/>
          <p:nvPr/>
        </p:nvSpPr>
        <p:spPr>
          <a:xfrm>
            <a:off x="6492240" y="36758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fusion scoring</a:t>
            </a:r>
            <a:endParaRPr lang="en-US" sz="1050" dirty="0"/>
          </a:p>
        </p:txBody>
      </p:sp>
      <p:sp>
        <p:nvSpPr>
          <p:cNvPr id="104" name="Shape 99"/>
          <p:cNvSpPr/>
          <p:nvPr/>
        </p:nvSpPr>
        <p:spPr>
          <a:xfrm>
            <a:off x="6382512" y="4142232"/>
            <a:ext cx="2459736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0"/>
          <p:cNvSpPr/>
          <p:nvPr/>
        </p:nvSpPr>
        <p:spPr>
          <a:xfrm>
            <a:off x="6382512" y="4142232"/>
            <a:ext cx="457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1"/>
          <p:cNvSpPr/>
          <p:nvPr/>
        </p:nvSpPr>
        <p:spPr>
          <a:xfrm>
            <a:off x="6492240" y="41788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Multi-score blending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C5DC2B-0793-FA1E-2734-65A17A84640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944765-2B44-0CA8-BD0E-899C8CD66DD8}"/>
              </a:ext>
            </a:extLst>
          </p:cNvPr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SOFTWARE SETUP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684FCB-3537-F1DC-2272-115C8BCD2E8A}"/>
              </a:ext>
            </a:extLst>
          </p:cNvPr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Environment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F5AE869-D5BA-E8ED-6B8F-9009D7C220B9}"/>
              </a:ext>
            </a:extLst>
          </p:cNvPr>
          <p:cNvSpPr/>
          <p:nvPr/>
        </p:nvSpPr>
        <p:spPr>
          <a:xfrm>
            <a:off x="274320" y="1097280"/>
            <a:ext cx="4114800" cy="3794760"/>
          </a:xfrm>
          <a:prstGeom prst="rect">
            <a:avLst/>
          </a:prstGeom>
          <a:solidFill>
            <a:srgbClr val="131F3E"/>
          </a:solidFill>
          <a:ln w="12700">
            <a:solidFill>
              <a:srgbClr val="1E316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8461468-7847-C8E1-1CE9-64EF9CB745F7}"/>
              </a:ext>
            </a:extLst>
          </p:cNvPr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0CE0883-02CA-F6C5-2E5A-EA6B41670584}"/>
              </a:ext>
            </a:extLst>
          </p:cNvPr>
          <p:cNvSpPr/>
          <p:nvPr/>
        </p:nvSpPr>
        <p:spPr>
          <a:xfrm>
            <a:off x="365760" y="11247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SOFTWARE STACK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F4C6642-32CE-C130-96B5-1EEC33FC7FC2}"/>
              </a:ext>
            </a:extLst>
          </p:cNvPr>
          <p:cNvSpPr/>
          <p:nvPr/>
        </p:nvSpPr>
        <p:spPr>
          <a:xfrm>
            <a:off x="411480" y="15727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E337B06-81EF-0472-10B7-63D8AE650D9D}"/>
              </a:ext>
            </a:extLst>
          </p:cNvPr>
          <p:cNvSpPr/>
          <p:nvPr/>
        </p:nvSpPr>
        <p:spPr>
          <a:xfrm>
            <a:off x="1554480" y="15727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5, Tailwind CSS, Recharts, Framer Motion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6F759BF-C030-222E-3CDF-4F3469DFCDB2}"/>
              </a:ext>
            </a:extLst>
          </p:cNvPr>
          <p:cNvSpPr/>
          <p:nvPr/>
        </p:nvSpPr>
        <p:spPr>
          <a:xfrm>
            <a:off x="411480" y="20299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015AE14-0DEC-757A-DBA4-CCC32EBF106B}"/>
              </a:ext>
            </a:extLst>
          </p:cNvPr>
          <p:cNvSpPr/>
          <p:nvPr/>
        </p:nvSpPr>
        <p:spPr>
          <a:xfrm>
            <a:off x="1554480" y="2029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Express, Mongoose, Multer, Groq SDK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BA46A2A-B5B9-C6EE-9975-C851DEEB108E}"/>
              </a:ext>
            </a:extLst>
          </p:cNvPr>
          <p:cNvSpPr/>
          <p:nvPr/>
        </p:nvSpPr>
        <p:spPr>
          <a:xfrm>
            <a:off x="411480" y="24871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FAABD0C-E85E-5544-FB95-F7E9B39409B7}"/>
              </a:ext>
            </a:extLst>
          </p:cNvPr>
          <p:cNvSpPr/>
          <p:nvPr/>
        </p:nvSpPr>
        <p:spPr>
          <a:xfrm>
            <a:off x="1554480" y="24871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(local), FAISS-node (vector index)</a:t>
            </a:r>
            <a:endParaRPr lang="en-US" sz="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75B774B-A0C3-0B84-FC7A-1981E3D6905E}"/>
              </a:ext>
            </a:extLst>
          </p:cNvPr>
          <p:cNvSpPr/>
          <p:nvPr/>
        </p:nvSpPr>
        <p:spPr>
          <a:xfrm>
            <a:off x="411480" y="29443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Audio</a:t>
            </a:r>
            <a:endParaRPr lang="en-US" sz="9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0BB00F4-052E-69E6-3E06-5E485F22403E}"/>
              </a:ext>
            </a:extLst>
          </p:cNvPr>
          <p:cNvSpPr/>
          <p:nvPr/>
        </p:nvSpPr>
        <p:spPr>
          <a:xfrm>
            <a:off x="1554480" y="29443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librosa, MediaPipe, OpenCV, NumPy, scipy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6B9E761-17FB-23BD-9BFB-4580B53AD635}"/>
              </a:ext>
            </a:extLst>
          </p:cNvPr>
          <p:cNvSpPr/>
          <p:nvPr/>
        </p:nvSpPr>
        <p:spPr>
          <a:xfrm>
            <a:off x="411480" y="34015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9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FC4C5B9-F8E5-E5D2-CE43-078DA35F7081}"/>
              </a:ext>
            </a:extLst>
          </p:cNvPr>
          <p:cNvSpPr/>
          <p:nvPr/>
        </p:nvSpPr>
        <p:spPr>
          <a:xfrm>
            <a:off x="1554480" y="3401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LLaMA-3.1-8B-Instant (cloud API), RAG pipeline</a:t>
            </a:r>
            <a:endParaRPr lang="en-US" sz="9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468AE8B-9E90-833B-7FA5-2C05C71C723C}"/>
              </a:ext>
            </a:extLst>
          </p:cNvPr>
          <p:cNvSpPr/>
          <p:nvPr/>
        </p:nvSpPr>
        <p:spPr>
          <a:xfrm>
            <a:off x="411480" y="38587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86E818D-BED7-04FA-5FDB-CBFB7BC5868A}"/>
              </a:ext>
            </a:extLst>
          </p:cNvPr>
          <p:cNvSpPr/>
          <p:nvPr/>
        </p:nvSpPr>
        <p:spPr>
          <a:xfrm>
            <a:off x="1554480" y="38587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 (Gradio + FastAPI), HF free tier</a:t>
            </a:r>
            <a:endParaRPr lang="en-US" sz="9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EA1AAE2-98C5-8CE6-FD01-F53EFD8E3F13}"/>
              </a:ext>
            </a:extLst>
          </p:cNvPr>
          <p:cNvSpPr/>
          <p:nvPr/>
        </p:nvSpPr>
        <p:spPr>
          <a:xfrm>
            <a:off x="411480" y="43159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EED1A93-8C7C-AB6E-E922-7CC2FC5949A0}"/>
              </a:ext>
            </a:extLst>
          </p:cNvPr>
          <p:cNvSpPr/>
          <p:nvPr/>
        </p:nvSpPr>
        <p:spPr>
          <a:xfrm>
            <a:off x="1554480" y="4315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jStat (Welch t-test), IEEEsession_analysis.py</a:t>
            </a:r>
            <a:endParaRPr lang="en-US" sz="9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A8485E2-09F9-2D07-4B03-ED87992965E0}"/>
              </a:ext>
            </a:extLst>
          </p:cNvPr>
          <p:cNvSpPr/>
          <p:nvPr/>
        </p:nvSpPr>
        <p:spPr>
          <a:xfrm>
            <a:off x="4663440" y="1097280"/>
            <a:ext cx="4160520" cy="3794760"/>
          </a:xfrm>
          <a:prstGeom prst="rect">
            <a:avLst/>
          </a:prstGeom>
          <a:solidFill>
            <a:srgbClr val="131F3E"/>
          </a:solidFill>
          <a:ln w="12700">
            <a:solidFill>
              <a:srgbClr val="1E316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20F9D7B-894D-7866-0844-E1AA0B1157C3}"/>
              </a:ext>
            </a:extLst>
          </p:cNvPr>
          <p:cNvSpPr/>
          <p:nvPr/>
        </p:nvSpPr>
        <p:spPr>
          <a:xfrm>
            <a:off x="4663440" y="1097280"/>
            <a:ext cx="4160520" cy="365760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52AD4D2-A301-626F-9851-C24318D69397}"/>
              </a:ext>
            </a:extLst>
          </p:cNvPr>
          <p:cNvSpPr/>
          <p:nvPr/>
        </p:nvSpPr>
        <p:spPr>
          <a:xfrm>
            <a:off x="4754880" y="1124712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HARDWARE &amp; CONFIG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9D40208-E9BB-3A4A-30EA-0AD3B9931B5F}"/>
              </a:ext>
            </a:extLst>
          </p:cNvPr>
          <p:cNvSpPr/>
          <p:nvPr/>
        </p:nvSpPr>
        <p:spPr>
          <a:xfrm>
            <a:off x="4754880" y="157276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1DA3F8A-15BC-06EF-8180-BBA58ECACBC6}"/>
              </a:ext>
            </a:extLst>
          </p:cNvPr>
          <p:cNvSpPr/>
          <p:nvPr/>
        </p:nvSpPr>
        <p:spPr>
          <a:xfrm>
            <a:off x="5943600" y="15727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Edge (WebRTC, MediaRecorder API)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5273F69-CBEB-5E4F-D228-0BA7001F217B}"/>
              </a:ext>
            </a:extLst>
          </p:cNvPr>
          <p:cNvSpPr/>
          <p:nvPr/>
        </p:nvSpPr>
        <p:spPr>
          <a:xfrm>
            <a:off x="4754880" y="202996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9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8952AAB-DA3C-39BD-6F8E-09E527F77A1E}"/>
              </a:ext>
            </a:extLst>
          </p:cNvPr>
          <p:cNvSpPr/>
          <p:nvPr/>
        </p:nvSpPr>
        <p:spPr>
          <a:xfrm>
            <a:off x="5943600" y="2029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or USB webcam (640×360 min)</a:t>
            </a: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F823359-529E-8B11-711B-7484BA1E56B0}"/>
              </a:ext>
            </a:extLst>
          </p:cNvPr>
          <p:cNvSpPr/>
          <p:nvPr/>
        </p:nvSpPr>
        <p:spPr>
          <a:xfrm>
            <a:off x="4754880" y="248716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9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7B3C67A-90E1-BE37-4882-1CEE3E9EF4E3}"/>
              </a:ext>
            </a:extLst>
          </p:cNvPr>
          <p:cNvSpPr/>
          <p:nvPr/>
        </p:nvSpPr>
        <p:spPr>
          <a:xfrm>
            <a:off x="5943600" y="24871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mic, 44.1 kHz, echo cancellation on</a:t>
            </a:r>
            <a:endParaRPr lang="en-US" sz="9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1D1933A-5B73-C558-F2AC-29F3D2C22C62}"/>
              </a:ext>
            </a:extLst>
          </p:cNvPr>
          <p:cNvSpPr/>
          <p:nvPr/>
        </p:nvSpPr>
        <p:spPr>
          <a:xfrm>
            <a:off x="4754880" y="294436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Host</a:t>
            </a:r>
            <a:endParaRPr lang="en-US" sz="9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6BBEC04-1FD5-28A0-B3C5-C77307710B73}"/>
              </a:ext>
            </a:extLst>
          </p:cNvPr>
          <p:cNvSpPr/>
          <p:nvPr/>
        </p:nvSpPr>
        <p:spPr>
          <a:xfrm>
            <a:off x="5943600" y="29443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/ any Node.js server (Port 5000)</a:t>
            </a:r>
            <a:endParaRPr lang="en-US" sz="9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DFCAAC2-5239-F304-41D6-76DBCE9E02A1}"/>
              </a:ext>
            </a:extLst>
          </p:cNvPr>
          <p:cNvSpPr/>
          <p:nvPr/>
        </p:nvSpPr>
        <p:spPr>
          <a:xfrm>
            <a:off x="4754880" y="340156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Space</a:t>
            </a:r>
            <a:endParaRPr lang="en-US" sz="9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9D59545-F4DD-682B-CAF5-99A374BCD4BD}"/>
              </a:ext>
            </a:extLst>
          </p:cNvPr>
          <p:cNvSpPr/>
          <p:nvPr/>
        </p:nvSpPr>
        <p:spPr>
          <a:xfrm>
            <a:off x="5943600" y="3401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Basic (free tier) — GPU optional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15FD9A18-4CB3-7B4B-6F5A-A0D0523A140F}"/>
              </a:ext>
            </a:extLst>
          </p:cNvPr>
          <p:cNvSpPr/>
          <p:nvPr/>
        </p:nvSpPr>
        <p:spPr>
          <a:xfrm>
            <a:off x="4754880" y="385876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D47F0414-8883-1DC2-9B8F-D57875CDB4EC}"/>
              </a:ext>
            </a:extLst>
          </p:cNvPr>
          <p:cNvSpPr/>
          <p:nvPr/>
        </p:nvSpPr>
        <p:spPr>
          <a:xfrm>
            <a:off x="5943600" y="38587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27017 or Atlas cloud URI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4C323B0-9AF7-7CE3-66E6-AC1461986FCE}"/>
              </a:ext>
            </a:extLst>
          </p:cNvPr>
          <p:cNvSpPr/>
          <p:nvPr/>
        </p:nvSpPr>
        <p:spPr>
          <a:xfrm>
            <a:off x="4754880" y="431596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SR</a:t>
            </a:r>
            <a:endParaRPr lang="en-US" sz="95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FAA39BA-E49A-7FB4-25E8-42E922C44D08}"/>
              </a:ext>
            </a:extLst>
          </p:cNvPr>
          <p:cNvSpPr/>
          <p:nvPr/>
        </p:nvSpPr>
        <p:spPr>
          <a:xfrm>
            <a:off x="5943600" y="4315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resampled in librosa for feature extraction</a:t>
            </a:r>
            <a:endParaRPr lang="en-US" sz="9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9A4355D2-69CC-89AC-9B5B-62E3BBB74A3D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31F3E"/>
          </a:solidFill>
          <a:ln w="12700">
            <a:solidFill>
              <a:srgbClr val="1E31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0A640CF-F52C-E949-4951-617558BA7E50}"/>
              </a:ext>
            </a:extLst>
          </p:cNvPr>
          <p:cNvSpPr/>
          <p:nvPr/>
        </p:nvSpPr>
        <p:spPr>
          <a:xfrm>
            <a:off x="274320" y="47914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18.2</a:t>
            </a:r>
            <a:endParaRPr lang="en-US" sz="85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346B26C-F7B2-452C-8702-D33288B0ACF2}"/>
              </a:ext>
            </a:extLst>
          </p:cNvPr>
          <p:cNvSpPr/>
          <p:nvPr/>
        </p:nvSpPr>
        <p:spPr>
          <a:xfrm>
            <a:off x="1737360" y="47914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LTS</a:t>
            </a:r>
            <a:endParaRPr lang="en-US" sz="85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DFE9B7F-8546-A9AD-B48C-A129AA0FAEB9}"/>
              </a:ext>
            </a:extLst>
          </p:cNvPr>
          <p:cNvSpPr/>
          <p:nvPr/>
        </p:nvSpPr>
        <p:spPr>
          <a:xfrm>
            <a:off x="3200400" y="47914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6</a:t>
            </a:r>
            <a:endParaRPr lang="en-US" sz="8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00DFF950-4767-37C7-EABF-D260C3AC9C42}"/>
              </a:ext>
            </a:extLst>
          </p:cNvPr>
          <p:cNvSpPr/>
          <p:nvPr/>
        </p:nvSpPr>
        <p:spPr>
          <a:xfrm>
            <a:off x="4663440" y="47914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0.10</a:t>
            </a:r>
            <a:endParaRPr lang="en-US" sz="85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84BB7BC-137C-C1E7-A92E-7F60B9E42CC9}"/>
              </a:ext>
            </a:extLst>
          </p:cNvPr>
          <p:cNvSpPr/>
          <p:nvPr/>
        </p:nvSpPr>
        <p:spPr>
          <a:xfrm>
            <a:off x="6126480" y="47914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0.10</a:t>
            </a:r>
            <a:endParaRPr lang="en-US" sz="8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8818FCF0-346E-F738-DF45-0A1625A29CB2}"/>
              </a:ext>
            </a:extLst>
          </p:cNvPr>
          <p:cNvSpPr/>
          <p:nvPr/>
        </p:nvSpPr>
        <p:spPr>
          <a:xfrm>
            <a:off x="7589520" y="47914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 4.0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311541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6D83FE-212C-161B-9C62-3176ECF6167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B50674-9A9B-117A-0C73-500D89BF6F34}"/>
              </a:ext>
            </a:extLst>
          </p:cNvPr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EF912FC-49B3-26AE-298C-1691EAC931B3}"/>
              </a:ext>
            </a:extLst>
          </p:cNvPr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Experimental Design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8F180EE-3774-C101-5E0C-B2F7EAD530A7}"/>
              </a:ext>
            </a:extLst>
          </p:cNvPr>
          <p:cNvSpPr/>
          <p:nvPr/>
        </p:nvSpPr>
        <p:spPr>
          <a:xfrm>
            <a:off x="320040" y="1188720"/>
            <a:ext cx="4206240" cy="1691640"/>
          </a:xfrm>
          <a:prstGeom prst="rect">
            <a:avLst/>
          </a:prstGeom>
          <a:solidFill>
            <a:srgbClr val="131F3E"/>
          </a:solidFill>
          <a:ln w="12700">
            <a:solidFill>
              <a:srgbClr val="1E316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3E4C89A-5E94-BC06-4374-ECFFDDA7BD72}"/>
              </a:ext>
            </a:extLst>
          </p:cNvPr>
          <p:cNvSpPr/>
          <p:nvPr/>
        </p:nvSpPr>
        <p:spPr>
          <a:xfrm>
            <a:off x="320040" y="1188720"/>
            <a:ext cx="54864" cy="169164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C4E9A55-A687-B8D1-7912-88BE7D738595}"/>
              </a:ext>
            </a:extLst>
          </p:cNvPr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2EE0967-89CC-469B-F512-F3366B541D14}"/>
              </a:ext>
            </a:extLst>
          </p:cNvPr>
          <p:cNvSpPr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4C1EC7B-CE1F-587F-2C57-97B9156D741E}"/>
              </a:ext>
            </a:extLst>
          </p:cNvPr>
          <p:cNvSpPr/>
          <p:nvPr/>
        </p:nvSpPr>
        <p:spPr>
          <a:xfrm>
            <a:off x="1143000" y="12801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BEA9632-8AF4-94BA-D71F-9F8E21A3EBEF}"/>
              </a:ext>
            </a:extLst>
          </p:cNvPr>
          <p:cNvSpPr/>
          <p:nvPr/>
        </p:nvSpPr>
        <p:spPr>
          <a:xfrm>
            <a:off x="1143000" y="1664208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Browser-captured audio (WebM) + video (WebM) + Speech-to-Text transcription. 58 sessions across Practice, JD, and Live modes (Feb–Mar 2026).</a:t>
            </a:r>
            <a:endParaRPr lang="en-US" sz="9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0557403-E3C6-E9EB-6E0B-223F20364B1C}"/>
              </a:ext>
            </a:extLst>
          </p:cNvPr>
          <p:cNvSpPr/>
          <p:nvPr/>
        </p:nvSpPr>
        <p:spPr>
          <a:xfrm>
            <a:off x="4754880" y="1188720"/>
            <a:ext cx="4206240" cy="1691640"/>
          </a:xfrm>
          <a:prstGeom prst="rect">
            <a:avLst/>
          </a:prstGeom>
          <a:solidFill>
            <a:srgbClr val="131F3E"/>
          </a:solidFill>
          <a:ln w="12700">
            <a:solidFill>
              <a:srgbClr val="1E316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EF9F262-066E-3E11-9EA1-A70A0E5FCFDF}"/>
              </a:ext>
            </a:extLst>
          </p:cNvPr>
          <p:cNvSpPr/>
          <p:nvPr/>
        </p:nvSpPr>
        <p:spPr>
          <a:xfrm>
            <a:off x="4754880" y="1188720"/>
            <a:ext cx="54864" cy="1691640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DD05DB-1F5C-9729-9E59-404F235B3AC8}"/>
              </a:ext>
            </a:extLst>
          </p:cNvPr>
          <p:cNvSpPr/>
          <p:nvPr/>
        </p:nvSpPr>
        <p:spPr>
          <a:xfrm>
            <a:off x="4937760" y="1737360"/>
            <a:ext cx="502920" cy="50292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2223A04-32F0-C0CF-85C3-AF069F790B9B}"/>
              </a:ext>
            </a:extLst>
          </p:cNvPr>
          <p:cNvSpPr/>
          <p:nvPr/>
        </p:nvSpPr>
        <p:spPr>
          <a:xfrm>
            <a:off x="49377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B954F1B-6269-FE0D-3B22-400EF4E486BD}"/>
              </a:ext>
            </a:extLst>
          </p:cNvPr>
          <p:cNvSpPr/>
          <p:nvPr/>
        </p:nvSpPr>
        <p:spPr>
          <a:xfrm>
            <a:off x="5577840" y="12801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432BFDF-1310-FD68-33C5-EAE46767A2E7}"/>
              </a:ext>
            </a:extLst>
          </p:cNvPr>
          <p:cNvSpPr/>
          <p:nvPr/>
        </p:nvSpPr>
        <p:spPr>
          <a:xfrm>
            <a:off x="5577840" y="1664208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librosa: 6 acoustic descriptors at 16 kHz. MediaPipe FaceMesh: eye contact, head pose, smile, blink, gesture. Both stored per-session in MongoDB.</a:t>
            </a:r>
            <a:endParaRPr lang="en-US" sz="9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68A0ACE-F86D-4153-A254-A82319AF791F}"/>
              </a:ext>
            </a:extLst>
          </p:cNvPr>
          <p:cNvSpPr/>
          <p:nvPr/>
        </p:nvSpPr>
        <p:spPr>
          <a:xfrm>
            <a:off x="320040" y="3108960"/>
            <a:ext cx="4206240" cy="1691640"/>
          </a:xfrm>
          <a:prstGeom prst="rect">
            <a:avLst/>
          </a:prstGeom>
          <a:solidFill>
            <a:srgbClr val="131F3E"/>
          </a:solidFill>
          <a:ln w="12700">
            <a:solidFill>
              <a:srgbClr val="1E316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CD5A355-4A54-EB23-78FE-F6095C189198}"/>
              </a:ext>
            </a:extLst>
          </p:cNvPr>
          <p:cNvSpPr/>
          <p:nvPr/>
        </p:nvSpPr>
        <p:spPr>
          <a:xfrm>
            <a:off x="320040" y="3108960"/>
            <a:ext cx="54864" cy="169164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6C524EF-81A4-F8A0-B521-A7D5C69DA519}"/>
              </a:ext>
            </a:extLst>
          </p:cNvPr>
          <p:cNvSpPr/>
          <p:nvPr/>
        </p:nvSpPr>
        <p:spPr>
          <a:xfrm>
            <a:off x="502920" y="3657600"/>
            <a:ext cx="502920" cy="50292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BBCA230-8470-B8E0-14D3-0E3E9532AFCC}"/>
              </a:ext>
            </a:extLst>
          </p:cNvPr>
          <p:cNvSpPr/>
          <p:nvPr/>
        </p:nvSpPr>
        <p:spPr>
          <a:xfrm>
            <a:off x="50292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3A3F63B-4017-8DDE-FB22-A3D46399E709}"/>
              </a:ext>
            </a:extLst>
          </p:cNvPr>
          <p:cNvSpPr/>
          <p:nvPr/>
        </p:nvSpPr>
        <p:spPr>
          <a:xfrm>
            <a:off x="1143000" y="3200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Computation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189A614-685A-F3A3-AB03-F0ACAEDCBC7F}"/>
              </a:ext>
            </a:extLst>
          </p:cNvPr>
          <p:cNvSpPr/>
          <p:nvPr/>
        </p:nvSpPr>
        <p:spPr>
          <a:xfrm>
            <a:off x="1143000" y="3584448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fusion with adaptive weights → logistic calibration. Content scoring: 7 deterministic metrics. RAG teacher: FAISS + BM25 retrieval → Groq LLaMA-3.</a:t>
            </a:r>
            <a:endParaRPr lang="en-US" sz="9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C8804AE-85CE-7F1B-D8FF-5BB3E7CA6EF5}"/>
              </a:ext>
            </a:extLst>
          </p:cNvPr>
          <p:cNvSpPr/>
          <p:nvPr/>
        </p:nvSpPr>
        <p:spPr>
          <a:xfrm>
            <a:off x="4754880" y="3108960"/>
            <a:ext cx="4206240" cy="1691640"/>
          </a:xfrm>
          <a:prstGeom prst="rect">
            <a:avLst/>
          </a:prstGeom>
          <a:solidFill>
            <a:srgbClr val="131F3E"/>
          </a:solidFill>
          <a:ln w="12700">
            <a:solidFill>
              <a:srgbClr val="1E316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1A78948-6A8A-37C8-27C5-9F90FBABFC99}"/>
              </a:ext>
            </a:extLst>
          </p:cNvPr>
          <p:cNvSpPr/>
          <p:nvPr/>
        </p:nvSpPr>
        <p:spPr>
          <a:xfrm>
            <a:off x="4754880" y="3108960"/>
            <a:ext cx="54864" cy="169164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200646A-BB4B-8F69-3E0F-406C81C0A158}"/>
              </a:ext>
            </a:extLst>
          </p:cNvPr>
          <p:cNvSpPr/>
          <p:nvPr/>
        </p:nvSpPr>
        <p:spPr>
          <a:xfrm>
            <a:off x="4937760" y="3657600"/>
            <a:ext cx="502920" cy="502920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52E13BC-FFCF-F440-C6D9-BF78EE5EE437}"/>
              </a:ext>
            </a:extLst>
          </p:cNvPr>
          <p:cNvSpPr/>
          <p:nvPr/>
        </p:nvSpPr>
        <p:spPr>
          <a:xfrm>
            <a:off x="493776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23CF538-19FE-B150-A21C-A196271DCF00}"/>
              </a:ext>
            </a:extLst>
          </p:cNvPr>
          <p:cNvSpPr/>
          <p:nvPr/>
        </p:nvSpPr>
        <p:spPr>
          <a:xfrm>
            <a:off x="5577840" y="3200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Analysis</a:t>
            </a:r>
            <a:endParaRPr lang="en-US" sz="13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27C7751-DF02-FD9E-A598-9C4619ADA826}"/>
              </a:ext>
            </a:extLst>
          </p:cNvPr>
          <p:cNvSpPr/>
          <p:nvPr/>
        </p:nvSpPr>
        <p:spPr>
          <a:xfrm>
            <a:off x="5577840" y="3584448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IEEEsession_analysis.py script for reproducible stats. 95% CI computation. Welch's t-test for inter-session comparison. JD traceability audit.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621941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040C1A"/>
          </a:solidFill>
          <a:ln w="12700">
            <a:solidFill>
              <a:srgbClr val="04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2743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55264" y="0"/>
            <a:ext cx="27432" cy="5143500"/>
          </a:xfrm>
          <a:prstGeom prst="rect">
            <a:avLst/>
          </a:prstGeom>
          <a:solidFill>
            <a:srgbClr val="069EB9"/>
          </a:solidFill>
          <a:ln w="12700">
            <a:solidFill>
              <a:srgbClr val="069E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64408" y="0"/>
            <a:ext cx="27432" cy="5143500"/>
          </a:xfrm>
          <a:prstGeom prst="rect">
            <a:avLst/>
          </a:prstGeom>
          <a:solidFill>
            <a:srgbClr val="06859F"/>
          </a:solidFill>
          <a:ln w="12700">
            <a:solidFill>
              <a:srgbClr val="0685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73552" y="0"/>
            <a:ext cx="27432" cy="5143500"/>
          </a:xfrm>
          <a:prstGeom prst="rect">
            <a:avLst/>
          </a:prstGeom>
          <a:solidFill>
            <a:srgbClr val="066D84"/>
          </a:solidFill>
          <a:ln w="12700">
            <a:solidFill>
              <a:srgbClr val="066D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82696" y="0"/>
            <a:ext cx="27432" cy="5143500"/>
          </a:xfrm>
          <a:prstGeom prst="rect">
            <a:avLst/>
          </a:prstGeom>
          <a:solidFill>
            <a:srgbClr val="05556A"/>
          </a:solidFill>
          <a:ln w="12700">
            <a:solidFill>
              <a:srgbClr val="055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91840" y="0"/>
            <a:ext cx="27432" cy="5143500"/>
          </a:xfrm>
          <a:prstGeom prst="rect">
            <a:avLst/>
          </a:prstGeom>
          <a:solidFill>
            <a:srgbClr val="053D4F"/>
          </a:solidFill>
          <a:ln w="12700">
            <a:solidFill>
              <a:srgbClr val="053D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300984" y="0"/>
            <a:ext cx="27432" cy="5143500"/>
          </a:xfrm>
          <a:prstGeom prst="rect">
            <a:avLst/>
          </a:prstGeom>
          <a:solidFill>
            <a:srgbClr val="052435"/>
          </a:solidFill>
          <a:ln w="12700">
            <a:solidFill>
              <a:srgbClr val="0524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10128" y="0"/>
            <a:ext cx="27432" cy="5143500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92608" y="50292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292608" y="3246120"/>
            <a:ext cx="246888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21208" y="3246120"/>
            <a:ext cx="246888" cy="54864"/>
          </a:xfrm>
          <a:prstGeom prst="rect">
            <a:avLst/>
          </a:prstGeom>
          <a:solidFill>
            <a:srgbClr val="07B1C9"/>
          </a:solidFill>
          <a:ln w="12700">
            <a:solidFill>
              <a:srgbClr val="07B1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49808" y="3246120"/>
            <a:ext cx="246888" cy="54864"/>
          </a:xfrm>
          <a:prstGeom prst="rect">
            <a:avLst/>
          </a:prstGeom>
          <a:solidFill>
            <a:srgbClr val="08ACBE"/>
          </a:solidFill>
          <a:ln w="12700">
            <a:solidFill>
              <a:srgbClr val="08AC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78408" y="3246120"/>
            <a:ext cx="246888" cy="54864"/>
          </a:xfrm>
          <a:prstGeom prst="rect">
            <a:avLst/>
          </a:prstGeom>
          <a:solidFill>
            <a:srgbClr val="09A7B3"/>
          </a:solidFill>
          <a:ln w="12700">
            <a:solidFill>
              <a:srgbClr val="09A7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207008" y="3246120"/>
            <a:ext cx="246888" cy="54864"/>
          </a:xfrm>
          <a:prstGeom prst="rect">
            <a:avLst/>
          </a:prstGeom>
          <a:solidFill>
            <a:srgbClr val="0AA3A9"/>
          </a:solidFill>
          <a:ln w="12700">
            <a:solidFill>
              <a:srgbClr val="0AA3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435608" y="3246120"/>
            <a:ext cx="246888" cy="54864"/>
          </a:xfrm>
          <a:prstGeom prst="rect">
            <a:avLst/>
          </a:prstGeom>
          <a:solidFill>
            <a:srgbClr val="0B9E9E"/>
          </a:solidFill>
          <a:ln w="12700">
            <a:solidFill>
              <a:srgbClr val="0B9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664208" y="3246120"/>
            <a:ext cx="246888" cy="54864"/>
          </a:xfrm>
          <a:prstGeom prst="rect">
            <a:avLst/>
          </a:prstGeom>
          <a:solidFill>
            <a:srgbClr val="0C9993"/>
          </a:solidFill>
          <a:ln w="12700">
            <a:solidFill>
              <a:srgbClr val="0C99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892808" y="3246120"/>
            <a:ext cx="2468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92608" y="34290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librosa-based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signal processing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16 kHz sample rate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547872" y="256032"/>
            <a:ext cx="2633472" cy="1389888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547872" y="256032"/>
            <a:ext cx="347472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77056" y="256032"/>
            <a:ext cx="347472" cy="54864"/>
          </a:xfrm>
          <a:prstGeom prst="rect">
            <a:avLst/>
          </a:prstGeom>
          <a:solidFill>
            <a:srgbClr val="07A0BD"/>
          </a:solidFill>
          <a:ln w="12700">
            <a:solidFill>
              <a:srgbClr val="07A0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206240" y="256032"/>
            <a:ext cx="347472" cy="54864"/>
          </a:xfrm>
          <a:prstGeom prst="rect">
            <a:avLst/>
          </a:prstGeom>
          <a:solidFill>
            <a:srgbClr val="088BA7"/>
          </a:solidFill>
          <a:ln w="12700">
            <a:solidFill>
              <a:srgbClr val="088B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35424" y="256032"/>
            <a:ext cx="347472" cy="54864"/>
          </a:xfrm>
          <a:prstGeom prst="rect">
            <a:avLst/>
          </a:prstGeom>
          <a:solidFill>
            <a:srgbClr val="097590"/>
          </a:solidFill>
          <a:ln w="12700">
            <a:solidFill>
              <a:srgbClr val="0975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64608" y="256032"/>
            <a:ext cx="347472" cy="54864"/>
          </a:xfrm>
          <a:prstGeom prst="rect">
            <a:avLst/>
          </a:prstGeom>
          <a:solidFill>
            <a:srgbClr val="0A6079"/>
          </a:solidFill>
          <a:ln w="12700">
            <a:solidFill>
              <a:srgbClr val="0A60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193792" y="256032"/>
            <a:ext cx="347472" cy="54864"/>
          </a:xfrm>
          <a:prstGeom prst="rect">
            <a:avLst/>
          </a:prstGeom>
          <a:solidFill>
            <a:srgbClr val="0B4A62"/>
          </a:solidFill>
          <a:ln w="12700">
            <a:solidFill>
              <a:srgbClr val="0B4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522976" y="256032"/>
            <a:ext cx="347472" cy="54864"/>
          </a:xfrm>
          <a:prstGeom prst="rect">
            <a:avLst/>
          </a:prstGeom>
          <a:solidFill>
            <a:srgbClr val="0C354C"/>
          </a:solidFill>
          <a:ln w="12700">
            <a:solidFill>
              <a:srgbClr val="0C35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852160" y="256032"/>
            <a:ext cx="347472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0" y="36576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3657600" y="877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Energy (dB)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0" y="1207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intensity &amp; projection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64224" y="256032"/>
            <a:ext cx="2633472" cy="1389888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364224" y="256032"/>
            <a:ext cx="34747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693408" y="256032"/>
            <a:ext cx="347472" cy="54864"/>
          </a:xfrm>
          <a:prstGeom prst="rect">
            <a:avLst/>
          </a:prstGeom>
          <a:solidFill>
            <a:srgbClr val="0D837C"/>
          </a:solidFill>
          <a:ln w="12700">
            <a:solidFill>
              <a:srgbClr val="0D83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022592" y="256032"/>
            <a:ext cx="347472" cy="54864"/>
          </a:xfrm>
          <a:prstGeom prst="rect">
            <a:avLst/>
          </a:prstGeom>
          <a:solidFill>
            <a:srgbClr val="0D7370"/>
          </a:solidFill>
          <a:ln w="12700">
            <a:solidFill>
              <a:srgbClr val="0D73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351776" y="256032"/>
            <a:ext cx="347472" cy="54864"/>
          </a:xfrm>
          <a:prstGeom prst="rect">
            <a:avLst/>
          </a:prstGeom>
          <a:solidFill>
            <a:srgbClr val="0D6264"/>
          </a:solidFill>
          <a:ln w="12700">
            <a:solidFill>
              <a:srgbClr val="0D6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680960" y="256032"/>
            <a:ext cx="347472" cy="54864"/>
          </a:xfrm>
          <a:prstGeom prst="rect">
            <a:avLst/>
          </a:prstGeom>
          <a:solidFill>
            <a:srgbClr val="0D5159"/>
          </a:solidFill>
          <a:ln w="12700">
            <a:solidFill>
              <a:srgbClr val="0D51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010144" y="256032"/>
            <a:ext cx="347472" cy="54864"/>
          </a:xfrm>
          <a:prstGeom prst="rect">
            <a:avLst/>
          </a:prstGeom>
          <a:solidFill>
            <a:srgbClr val="0D404D"/>
          </a:solidFill>
          <a:ln w="12700">
            <a:solidFill>
              <a:srgbClr val="0D40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339328" y="256032"/>
            <a:ext cx="347472" cy="54864"/>
          </a:xfrm>
          <a:prstGeom prst="rect">
            <a:avLst/>
          </a:prstGeom>
          <a:solidFill>
            <a:srgbClr val="0D3041"/>
          </a:solidFill>
          <a:ln w="12700">
            <a:solidFill>
              <a:srgbClr val="0D30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668512" y="256032"/>
            <a:ext cx="347472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473952" y="36576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6473952" y="877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Statistics F₀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73952" y="1207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&amp; std — variance = instability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47872" y="1828800"/>
            <a:ext cx="2633472" cy="1389888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3547872" y="1828800"/>
            <a:ext cx="347472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3877056" y="1828800"/>
            <a:ext cx="347472" cy="54864"/>
          </a:xfrm>
          <a:prstGeom prst="rect">
            <a:avLst/>
          </a:prstGeom>
          <a:solidFill>
            <a:srgbClr val="4640CC"/>
          </a:solidFill>
          <a:ln w="12700">
            <a:solidFill>
              <a:srgbClr val="464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206240" y="1828800"/>
            <a:ext cx="347472" cy="54864"/>
          </a:xfrm>
          <a:prstGeom prst="rect">
            <a:avLst/>
          </a:prstGeom>
          <a:solidFill>
            <a:srgbClr val="3C3BB3"/>
          </a:solidFill>
          <a:ln w="12700">
            <a:solidFill>
              <a:srgbClr val="3C3B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535424" y="1828800"/>
            <a:ext cx="347472" cy="54864"/>
          </a:xfrm>
          <a:prstGeom prst="rect">
            <a:avLst/>
          </a:prstGeom>
          <a:solidFill>
            <a:srgbClr val="33359A"/>
          </a:solidFill>
          <a:ln w="12700">
            <a:solidFill>
              <a:srgbClr val="3335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864608" y="1828800"/>
            <a:ext cx="347472" cy="54864"/>
          </a:xfrm>
          <a:prstGeom prst="rect">
            <a:avLst/>
          </a:prstGeom>
          <a:solidFill>
            <a:srgbClr val="293080"/>
          </a:solidFill>
          <a:ln w="12700">
            <a:solidFill>
              <a:srgbClr val="293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5193792" y="1828800"/>
            <a:ext cx="347472" cy="54864"/>
          </a:xfrm>
          <a:prstGeom prst="rect">
            <a:avLst/>
          </a:prstGeom>
          <a:solidFill>
            <a:srgbClr val="202A67"/>
          </a:solidFill>
          <a:ln w="12700">
            <a:solidFill>
              <a:srgbClr val="202A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522976" y="1828800"/>
            <a:ext cx="347472" cy="54864"/>
          </a:xfrm>
          <a:prstGeom prst="rect">
            <a:avLst/>
          </a:prstGeom>
          <a:solidFill>
            <a:srgbClr val="16254E"/>
          </a:solidFill>
          <a:ln w="12700">
            <a:solidFill>
              <a:srgbClr val="1625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852160" y="1828800"/>
            <a:ext cx="347472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657600" y="19385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55" name="Text 53"/>
          <p:cNvSpPr/>
          <p:nvPr/>
        </p:nvSpPr>
        <p:spPr>
          <a:xfrm>
            <a:off x="3657600" y="2450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Centroid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657600" y="2779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→ articulation clarity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364224" y="1828800"/>
            <a:ext cx="2633472" cy="1389888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6364224" y="1828800"/>
            <a:ext cx="34747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6693408" y="1828800"/>
            <a:ext cx="347472" cy="54864"/>
          </a:xfrm>
          <a:prstGeom prst="rect">
            <a:avLst/>
          </a:prstGeom>
          <a:solidFill>
            <a:srgbClr val="6C36D3"/>
          </a:solidFill>
          <a:ln w="12700">
            <a:solidFill>
              <a:srgbClr val="6C3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7022592" y="1828800"/>
            <a:ext cx="347472" cy="54864"/>
          </a:xfrm>
          <a:prstGeom prst="rect">
            <a:avLst/>
          </a:prstGeom>
          <a:solidFill>
            <a:srgbClr val="5C32B8"/>
          </a:solidFill>
          <a:ln w="12700">
            <a:solidFill>
              <a:srgbClr val="5C32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351776" y="1828800"/>
            <a:ext cx="347472" cy="54864"/>
          </a:xfrm>
          <a:prstGeom prst="rect">
            <a:avLst/>
          </a:prstGeom>
          <a:solidFill>
            <a:srgbClr val="4C2E9E"/>
          </a:solidFill>
          <a:ln w="12700">
            <a:solidFill>
              <a:srgbClr val="4C2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7680960" y="1828800"/>
            <a:ext cx="347472" cy="54864"/>
          </a:xfrm>
          <a:prstGeom prst="rect">
            <a:avLst/>
          </a:prstGeom>
          <a:solidFill>
            <a:srgbClr val="3D2B84"/>
          </a:solidFill>
          <a:ln w="12700">
            <a:solidFill>
              <a:srgbClr val="3D2B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8010144" y="1828800"/>
            <a:ext cx="347472" cy="54864"/>
          </a:xfrm>
          <a:prstGeom prst="rect">
            <a:avLst/>
          </a:prstGeom>
          <a:solidFill>
            <a:srgbClr val="2D276A"/>
          </a:solidFill>
          <a:ln w="12700">
            <a:solidFill>
              <a:srgbClr val="2D27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8339328" y="1828800"/>
            <a:ext cx="347472" cy="54864"/>
          </a:xfrm>
          <a:prstGeom prst="rect">
            <a:avLst/>
          </a:prstGeom>
          <a:solidFill>
            <a:srgbClr val="1D234F"/>
          </a:solidFill>
          <a:ln w="12700">
            <a:solidFill>
              <a:srgbClr val="1D23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8668512" y="1828800"/>
            <a:ext cx="347472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473952" y="19385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67" name="Text 65"/>
          <p:cNvSpPr/>
          <p:nvPr/>
        </p:nvSpPr>
        <p:spPr>
          <a:xfrm>
            <a:off x="6473952" y="2450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Zero-Crossing Rate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473952" y="2779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Noisiness &amp; voicing proportion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547872" y="3401568"/>
            <a:ext cx="2633472" cy="1389888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3547872" y="3401568"/>
            <a:ext cx="34747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3877056" y="3401568"/>
            <a:ext cx="347472" cy="54864"/>
          </a:xfrm>
          <a:prstGeom prst="rect">
            <a:avLst/>
          </a:prstGeom>
          <a:solidFill>
            <a:srgbClr val="D48C11"/>
          </a:solidFill>
          <a:ln w="12700">
            <a:solidFill>
              <a:srgbClr val="D48C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4206240" y="3401568"/>
            <a:ext cx="347472" cy="54864"/>
          </a:xfrm>
          <a:prstGeom prst="rect">
            <a:avLst/>
          </a:prstGeom>
          <a:solidFill>
            <a:srgbClr val="B37A17"/>
          </a:solidFill>
          <a:ln w="12700">
            <a:solidFill>
              <a:srgbClr val="B37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4535424" y="3401568"/>
            <a:ext cx="347472" cy="54864"/>
          </a:xfrm>
          <a:prstGeom prst="rect">
            <a:avLst/>
          </a:prstGeom>
          <a:solidFill>
            <a:srgbClr val="92681D"/>
          </a:solidFill>
          <a:ln w="12700">
            <a:solidFill>
              <a:srgbClr val="9268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4864608" y="3401568"/>
            <a:ext cx="347472" cy="54864"/>
          </a:xfrm>
          <a:prstGeom prst="rect">
            <a:avLst/>
          </a:prstGeom>
          <a:solidFill>
            <a:srgbClr val="705523"/>
          </a:solidFill>
          <a:ln w="12700">
            <a:solidFill>
              <a:srgbClr val="7055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5193792" y="3401568"/>
            <a:ext cx="347472" cy="54864"/>
          </a:xfrm>
          <a:prstGeom prst="rect">
            <a:avLst/>
          </a:prstGeom>
          <a:solidFill>
            <a:srgbClr val="4F4329"/>
          </a:solidFill>
          <a:ln w="12700">
            <a:solidFill>
              <a:srgbClr val="4F43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5522976" y="3401568"/>
            <a:ext cx="347472" cy="54864"/>
          </a:xfrm>
          <a:prstGeom prst="rect">
            <a:avLst/>
          </a:prstGeom>
          <a:solidFill>
            <a:srgbClr val="2E312F"/>
          </a:solidFill>
          <a:ln w="12700">
            <a:solidFill>
              <a:srgbClr val="2E31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5852160" y="3401568"/>
            <a:ext cx="347472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657600" y="351129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79" name="Text 77"/>
          <p:cNvSpPr/>
          <p:nvPr/>
        </p:nvSpPr>
        <p:spPr>
          <a:xfrm>
            <a:off x="3657600" y="40233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Rolloff 85%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3657600" y="43525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enclosing 85% energy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364224" y="3401568"/>
            <a:ext cx="2633472" cy="1389888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6364224" y="3401568"/>
            <a:ext cx="347472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6693408" y="3401568"/>
            <a:ext cx="347472" cy="54864"/>
          </a:xfrm>
          <a:prstGeom prst="rect">
            <a:avLst/>
          </a:prstGeom>
          <a:solidFill>
            <a:srgbClr val="D33A58"/>
          </a:solidFill>
          <a:ln w="12700">
            <a:solidFill>
              <a:srgbClr val="D3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7022592" y="3401568"/>
            <a:ext cx="347472" cy="54864"/>
          </a:xfrm>
          <a:prstGeom prst="rect">
            <a:avLst/>
          </a:prstGeom>
          <a:solidFill>
            <a:srgbClr val="B23652"/>
          </a:solidFill>
          <a:ln w="12700">
            <a:solidFill>
              <a:srgbClr val="B236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7351776" y="3401568"/>
            <a:ext cx="347472" cy="54864"/>
          </a:xfrm>
          <a:prstGeom prst="rect">
            <a:avLst/>
          </a:prstGeom>
          <a:solidFill>
            <a:srgbClr val="91314C"/>
          </a:solidFill>
          <a:ln w="12700">
            <a:solidFill>
              <a:srgbClr val="9131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7680960" y="3401568"/>
            <a:ext cx="347472" cy="54864"/>
          </a:xfrm>
          <a:prstGeom prst="rect">
            <a:avLst/>
          </a:prstGeom>
          <a:solidFill>
            <a:srgbClr val="702D47"/>
          </a:solidFill>
          <a:ln w="12700">
            <a:solidFill>
              <a:srgbClr val="702D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8010144" y="3401568"/>
            <a:ext cx="347472" cy="54864"/>
          </a:xfrm>
          <a:prstGeom prst="rect">
            <a:avLst/>
          </a:prstGeom>
          <a:solidFill>
            <a:srgbClr val="4F2841"/>
          </a:solidFill>
          <a:ln w="12700">
            <a:solidFill>
              <a:srgbClr val="4F28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8339328" y="3401568"/>
            <a:ext cx="347472" cy="54864"/>
          </a:xfrm>
          <a:prstGeom prst="rect">
            <a:avLst/>
          </a:prstGeom>
          <a:solidFill>
            <a:srgbClr val="2E243B"/>
          </a:solidFill>
          <a:ln w="12700">
            <a:solidFill>
              <a:srgbClr val="2E2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8668512" y="3401568"/>
            <a:ext cx="347472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6473952" y="351129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91" name="Text 89"/>
          <p:cNvSpPr/>
          <p:nvPr/>
        </p:nvSpPr>
        <p:spPr>
          <a:xfrm>
            <a:off x="6473952" y="40233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&amp; Pause Ratio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6473952" y="43525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rate &amp; pause structure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61288" cy="841248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0"/>
            <a:ext cx="1161288" cy="841248"/>
          </a:xfrm>
          <a:prstGeom prst="rect">
            <a:avLst/>
          </a:prstGeom>
          <a:solidFill>
            <a:srgbClr val="0A182D"/>
          </a:solidFill>
          <a:ln w="12700">
            <a:solidFill>
              <a:srgbClr val="0A1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0"/>
            <a:ext cx="1161288" cy="841248"/>
          </a:xfrm>
          <a:prstGeom prst="rect">
            <a:avLst/>
          </a:prstGeom>
          <a:solidFill>
            <a:srgbClr val="09162A"/>
          </a:solidFill>
          <a:ln w="12700">
            <a:solidFill>
              <a:srgbClr val="0916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0"/>
            <a:ext cx="1161288" cy="841248"/>
          </a:xfrm>
          <a:prstGeom prst="rect">
            <a:avLst/>
          </a:prstGeom>
          <a:solidFill>
            <a:srgbClr val="081427"/>
          </a:solidFill>
          <a:ln w="12700">
            <a:solidFill>
              <a:srgbClr val="0814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1161288" cy="841248"/>
          </a:xfrm>
          <a:prstGeom prst="rect">
            <a:avLst/>
          </a:prstGeom>
          <a:solidFill>
            <a:srgbClr val="081223"/>
          </a:solidFill>
          <a:ln w="12700">
            <a:solidFill>
              <a:srgbClr val="0812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0"/>
            <a:ext cx="1161288" cy="841248"/>
          </a:xfrm>
          <a:prstGeom prst="rect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0"/>
            <a:ext cx="1161288" cy="841248"/>
          </a:xfrm>
          <a:prstGeom prst="rect">
            <a:avLst/>
          </a:prstGeom>
          <a:solidFill>
            <a:srgbClr val="060E1D"/>
          </a:solidFill>
          <a:ln w="12700">
            <a:solidFill>
              <a:srgbClr val="060E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0"/>
            <a:ext cx="1161288" cy="841248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CONFIDENCE FUSION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5852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weighting of audio-visual modalities with logistic calibration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960120"/>
            <a:ext cx="2395728" cy="3913632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960120"/>
            <a:ext cx="31775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73786" y="960120"/>
            <a:ext cx="317754" cy="384048"/>
          </a:xfrm>
          <a:prstGeom prst="rect">
            <a:avLst/>
          </a:prstGeom>
          <a:solidFill>
            <a:srgbClr val="D48C11"/>
          </a:solidFill>
          <a:ln w="12700">
            <a:solidFill>
              <a:srgbClr val="D48C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73252" y="960120"/>
            <a:ext cx="317754" cy="384048"/>
          </a:xfrm>
          <a:prstGeom prst="rect">
            <a:avLst/>
          </a:prstGeom>
          <a:solidFill>
            <a:srgbClr val="B37A17"/>
          </a:solidFill>
          <a:ln w="12700">
            <a:solidFill>
              <a:srgbClr val="B37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72718" y="960120"/>
            <a:ext cx="317754" cy="384048"/>
          </a:xfrm>
          <a:prstGeom prst="rect">
            <a:avLst/>
          </a:prstGeom>
          <a:solidFill>
            <a:srgbClr val="92681D"/>
          </a:solidFill>
          <a:ln w="12700">
            <a:solidFill>
              <a:srgbClr val="9268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472184" y="960120"/>
            <a:ext cx="317754" cy="384048"/>
          </a:xfrm>
          <a:prstGeom prst="rect">
            <a:avLst/>
          </a:prstGeom>
          <a:solidFill>
            <a:srgbClr val="705523"/>
          </a:solidFill>
          <a:ln w="12700">
            <a:solidFill>
              <a:srgbClr val="7055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771650" y="960120"/>
            <a:ext cx="317754" cy="384048"/>
          </a:xfrm>
          <a:prstGeom prst="rect">
            <a:avLst/>
          </a:prstGeom>
          <a:solidFill>
            <a:srgbClr val="4F4329"/>
          </a:solidFill>
          <a:ln w="12700">
            <a:solidFill>
              <a:srgbClr val="4F43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071116" y="960120"/>
            <a:ext cx="317754" cy="384048"/>
          </a:xfrm>
          <a:prstGeom prst="rect">
            <a:avLst/>
          </a:prstGeom>
          <a:solidFill>
            <a:srgbClr val="2E312F"/>
          </a:solidFill>
          <a:ln w="12700">
            <a:solidFill>
              <a:srgbClr val="2E31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370582" y="960120"/>
            <a:ext cx="317754" cy="38404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98755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SIGNALS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" y="1481328"/>
            <a:ext cx="2176272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4048" y="1481328"/>
            <a:ext cx="4572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3776" y="15270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Contact (gaze centering)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1993392"/>
            <a:ext cx="2176272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1993392"/>
            <a:ext cx="4572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3776" y="20391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Pose (yaw/pitch/roll)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048" y="2505456"/>
            <a:ext cx="2176272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84048" y="2505456"/>
            <a:ext cx="4572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" y="25511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Dynamics &amp; variability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4048" y="3017520"/>
            <a:ext cx="2176272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84048" y="3017520"/>
            <a:ext cx="4572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3776" y="30632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Rate — composure proxy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84048" y="3529584"/>
            <a:ext cx="2176272" cy="402336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84048" y="3529584"/>
            <a:ext cx="4572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3776" y="35753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magnitude &amp; variance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852928" y="960120"/>
            <a:ext cx="4005072" cy="896112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2852928" y="960120"/>
            <a:ext cx="518922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353562" y="960120"/>
            <a:ext cx="518922" cy="54864"/>
          </a:xfrm>
          <a:prstGeom prst="rect">
            <a:avLst/>
          </a:prstGeom>
          <a:solidFill>
            <a:srgbClr val="07A0BD"/>
          </a:solidFill>
          <a:ln w="12700">
            <a:solidFill>
              <a:srgbClr val="07A0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854196" y="960120"/>
            <a:ext cx="518922" cy="54864"/>
          </a:xfrm>
          <a:prstGeom prst="rect">
            <a:avLst/>
          </a:prstGeom>
          <a:solidFill>
            <a:srgbClr val="088BA7"/>
          </a:solidFill>
          <a:ln w="12700">
            <a:solidFill>
              <a:srgbClr val="088B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354830" y="960120"/>
            <a:ext cx="518922" cy="54864"/>
          </a:xfrm>
          <a:prstGeom prst="rect">
            <a:avLst/>
          </a:prstGeom>
          <a:solidFill>
            <a:srgbClr val="097590"/>
          </a:solidFill>
          <a:ln w="12700">
            <a:solidFill>
              <a:srgbClr val="0975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855464" y="960120"/>
            <a:ext cx="518922" cy="54864"/>
          </a:xfrm>
          <a:prstGeom prst="rect">
            <a:avLst/>
          </a:prstGeom>
          <a:solidFill>
            <a:srgbClr val="0A6079"/>
          </a:solidFill>
          <a:ln w="12700">
            <a:solidFill>
              <a:srgbClr val="0A60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356098" y="960120"/>
            <a:ext cx="518922" cy="54864"/>
          </a:xfrm>
          <a:prstGeom prst="rect">
            <a:avLst/>
          </a:prstGeom>
          <a:solidFill>
            <a:srgbClr val="0B4A62"/>
          </a:solidFill>
          <a:ln w="12700">
            <a:solidFill>
              <a:srgbClr val="0B4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856732" y="960120"/>
            <a:ext cx="518922" cy="54864"/>
          </a:xfrm>
          <a:prstGeom prst="rect">
            <a:avLst/>
          </a:prstGeom>
          <a:solidFill>
            <a:srgbClr val="0C354C"/>
          </a:solidFill>
          <a:ln w="12700">
            <a:solidFill>
              <a:srgbClr val="0C35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357366" y="960120"/>
            <a:ext cx="518922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944368" y="1051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Confidence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944368" y="1307592"/>
            <a:ext cx="3749040" cy="402336"/>
          </a:xfrm>
          <a:prstGeom prst="rect">
            <a:avLst/>
          </a:prstGeom>
          <a:solidFill>
            <a:srgbClr val="030B1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017520" y="13441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s_speech = 0.30e + 0.25p + 0.20r + 0.15c + 0.10q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852928" y="1947672"/>
            <a:ext cx="4005072" cy="896112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2852928" y="1947672"/>
            <a:ext cx="51892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3353562" y="1947672"/>
            <a:ext cx="518922" cy="54864"/>
          </a:xfrm>
          <a:prstGeom prst="rect">
            <a:avLst/>
          </a:prstGeom>
          <a:solidFill>
            <a:srgbClr val="D48C11"/>
          </a:solidFill>
          <a:ln w="12700">
            <a:solidFill>
              <a:srgbClr val="D48C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3854196" y="1947672"/>
            <a:ext cx="518922" cy="54864"/>
          </a:xfrm>
          <a:prstGeom prst="rect">
            <a:avLst/>
          </a:prstGeom>
          <a:solidFill>
            <a:srgbClr val="B37A17"/>
          </a:solidFill>
          <a:ln w="12700">
            <a:solidFill>
              <a:srgbClr val="B37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354830" y="1947672"/>
            <a:ext cx="518922" cy="54864"/>
          </a:xfrm>
          <a:prstGeom prst="rect">
            <a:avLst/>
          </a:prstGeom>
          <a:solidFill>
            <a:srgbClr val="92681D"/>
          </a:solidFill>
          <a:ln w="12700">
            <a:solidFill>
              <a:srgbClr val="9268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855464" y="1947672"/>
            <a:ext cx="518922" cy="54864"/>
          </a:xfrm>
          <a:prstGeom prst="rect">
            <a:avLst/>
          </a:prstGeom>
          <a:solidFill>
            <a:srgbClr val="705523"/>
          </a:solidFill>
          <a:ln w="12700">
            <a:solidFill>
              <a:srgbClr val="7055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5356098" y="1947672"/>
            <a:ext cx="518922" cy="54864"/>
          </a:xfrm>
          <a:prstGeom prst="rect">
            <a:avLst/>
          </a:prstGeom>
          <a:solidFill>
            <a:srgbClr val="4F4329"/>
          </a:solidFill>
          <a:ln w="12700">
            <a:solidFill>
              <a:srgbClr val="4F43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5856732" y="1947672"/>
            <a:ext cx="518922" cy="54864"/>
          </a:xfrm>
          <a:prstGeom prst="rect">
            <a:avLst/>
          </a:prstGeom>
          <a:solidFill>
            <a:srgbClr val="2E312F"/>
          </a:solidFill>
          <a:ln w="12700">
            <a:solidFill>
              <a:srgbClr val="2E31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357366" y="1947672"/>
            <a:ext cx="518922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2944368" y="2039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Confidence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944368" y="2295144"/>
            <a:ext cx="3749040" cy="402336"/>
          </a:xfrm>
          <a:prstGeom prst="rect">
            <a:avLst/>
          </a:prstGeom>
          <a:solidFill>
            <a:srgbClr val="030B1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017520" y="233172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s_video  = 0.35ec + 0.30hc + 0.15sc + 0.20gc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852928" y="2935224"/>
            <a:ext cx="4005072" cy="896112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2852928" y="2935224"/>
            <a:ext cx="51892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3353562" y="2935224"/>
            <a:ext cx="518922" cy="54864"/>
          </a:xfrm>
          <a:prstGeom prst="rect">
            <a:avLst/>
          </a:prstGeom>
          <a:solidFill>
            <a:srgbClr val="6C36D3"/>
          </a:solidFill>
          <a:ln w="12700">
            <a:solidFill>
              <a:srgbClr val="6C3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3854196" y="2935224"/>
            <a:ext cx="518922" cy="54864"/>
          </a:xfrm>
          <a:prstGeom prst="rect">
            <a:avLst/>
          </a:prstGeom>
          <a:solidFill>
            <a:srgbClr val="5C32B8"/>
          </a:solidFill>
          <a:ln w="12700">
            <a:solidFill>
              <a:srgbClr val="5C32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354830" y="2935224"/>
            <a:ext cx="518922" cy="54864"/>
          </a:xfrm>
          <a:prstGeom prst="rect">
            <a:avLst/>
          </a:prstGeom>
          <a:solidFill>
            <a:srgbClr val="4C2E9E"/>
          </a:solidFill>
          <a:ln w="12700">
            <a:solidFill>
              <a:srgbClr val="4C2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4855464" y="2935224"/>
            <a:ext cx="518922" cy="54864"/>
          </a:xfrm>
          <a:prstGeom prst="rect">
            <a:avLst/>
          </a:prstGeom>
          <a:solidFill>
            <a:srgbClr val="3D2B84"/>
          </a:solidFill>
          <a:ln w="12700">
            <a:solidFill>
              <a:srgbClr val="3D2B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5356098" y="2935224"/>
            <a:ext cx="518922" cy="54864"/>
          </a:xfrm>
          <a:prstGeom prst="rect">
            <a:avLst/>
          </a:prstGeom>
          <a:solidFill>
            <a:srgbClr val="2D276A"/>
          </a:solidFill>
          <a:ln w="12700">
            <a:solidFill>
              <a:srgbClr val="2D27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5856732" y="2935224"/>
            <a:ext cx="518922" cy="54864"/>
          </a:xfrm>
          <a:prstGeom prst="rect">
            <a:avLst/>
          </a:prstGeom>
          <a:solidFill>
            <a:srgbClr val="1D234F"/>
          </a:solidFill>
          <a:ln w="12700">
            <a:solidFill>
              <a:srgbClr val="1D23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6357366" y="2935224"/>
            <a:ext cx="518922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2944368" y="3026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Calibration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944368" y="3282696"/>
            <a:ext cx="3749040" cy="402336"/>
          </a:xfrm>
          <a:prstGeom prst="rect">
            <a:avLst/>
          </a:prstGeom>
          <a:solidFill>
            <a:srgbClr val="030B1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017520" y="331927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s_cal = σ( s̃ ; k=6, x₀=0.5 )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852928" y="3922776"/>
            <a:ext cx="4005072" cy="896112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2852928" y="3922776"/>
            <a:ext cx="51892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3353562" y="3922776"/>
            <a:ext cx="518922" cy="54864"/>
          </a:xfrm>
          <a:prstGeom prst="rect">
            <a:avLst/>
          </a:prstGeom>
          <a:solidFill>
            <a:srgbClr val="10A376"/>
          </a:solidFill>
          <a:ln w="12700">
            <a:solidFill>
              <a:srgbClr val="10A3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3854196" y="3922776"/>
            <a:ext cx="518922" cy="54864"/>
          </a:xfrm>
          <a:prstGeom prst="rect">
            <a:avLst/>
          </a:prstGeom>
          <a:solidFill>
            <a:srgbClr val="0F8D6B"/>
          </a:solidFill>
          <a:ln w="12700">
            <a:solidFill>
              <a:srgbClr val="0F8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4354830" y="3922776"/>
            <a:ext cx="518922" cy="54864"/>
          </a:xfrm>
          <a:prstGeom prst="rect">
            <a:avLst/>
          </a:prstGeom>
          <a:solidFill>
            <a:srgbClr val="0F7760"/>
          </a:solidFill>
          <a:ln w="12700">
            <a:solidFill>
              <a:srgbClr val="0F77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4855464" y="3922776"/>
            <a:ext cx="518922" cy="54864"/>
          </a:xfrm>
          <a:prstGeom prst="rect">
            <a:avLst/>
          </a:prstGeom>
          <a:solidFill>
            <a:srgbClr val="0E6156"/>
          </a:solidFill>
          <a:ln w="12700">
            <a:solidFill>
              <a:srgbClr val="0E61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5356098" y="3922776"/>
            <a:ext cx="518922" cy="54864"/>
          </a:xfrm>
          <a:prstGeom prst="rect">
            <a:avLst/>
          </a:prstGeom>
          <a:solidFill>
            <a:srgbClr val="0E4B4B"/>
          </a:solidFill>
          <a:ln w="12700">
            <a:solidFill>
              <a:srgbClr val="0E4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5856732" y="3922776"/>
            <a:ext cx="518922" cy="54864"/>
          </a:xfrm>
          <a:prstGeom prst="rect">
            <a:avLst/>
          </a:prstGeom>
          <a:solidFill>
            <a:srgbClr val="0D3540"/>
          </a:solidFill>
          <a:ln w="12700">
            <a:solidFill>
              <a:srgbClr val="0D35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6357366" y="3922776"/>
            <a:ext cx="518922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944368" y="4014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Fusion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2944368" y="4270248"/>
            <a:ext cx="3749040" cy="402336"/>
          </a:xfrm>
          <a:prstGeom prst="rect">
            <a:avLst/>
          </a:prstGeom>
          <a:solidFill>
            <a:srgbClr val="030B1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3017520" y="430682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S_multi = 0.4·Scont + 0.3·Saud + 0.3·Svid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6995160" y="960120"/>
            <a:ext cx="1874520" cy="3913632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6995160" y="960120"/>
            <a:ext cx="252603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7229475" y="960120"/>
            <a:ext cx="252603" cy="384048"/>
          </a:xfrm>
          <a:prstGeom prst="rect">
            <a:avLst/>
          </a:prstGeom>
          <a:solidFill>
            <a:srgbClr val="6C36D3"/>
          </a:solidFill>
          <a:ln w="12700">
            <a:solidFill>
              <a:srgbClr val="6C3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7463790" y="960120"/>
            <a:ext cx="252603" cy="384048"/>
          </a:xfrm>
          <a:prstGeom prst="rect">
            <a:avLst/>
          </a:prstGeom>
          <a:solidFill>
            <a:srgbClr val="5C32B8"/>
          </a:solidFill>
          <a:ln w="12700">
            <a:solidFill>
              <a:srgbClr val="5C32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7698105" y="960120"/>
            <a:ext cx="252603" cy="384048"/>
          </a:xfrm>
          <a:prstGeom prst="rect">
            <a:avLst/>
          </a:prstGeom>
          <a:solidFill>
            <a:srgbClr val="4C2E9E"/>
          </a:solidFill>
          <a:ln w="12700">
            <a:solidFill>
              <a:srgbClr val="4C2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7932420" y="960120"/>
            <a:ext cx="252603" cy="384048"/>
          </a:xfrm>
          <a:prstGeom prst="rect">
            <a:avLst/>
          </a:prstGeom>
          <a:solidFill>
            <a:srgbClr val="3D2B84"/>
          </a:solidFill>
          <a:ln w="12700">
            <a:solidFill>
              <a:srgbClr val="3D2B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8166735" y="960120"/>
            <a:ext cx="252603" cy="384048"/>
          </a:xfrm>
          <a:prstGeom prst="rect">
            <a:avLst/>
          </a:prstGeom>
          <a:solidFill>
            <a:srgbClr val="2D276A"/>
          </a:solidFill>
          <a:ln w="12700">
            <a:solidFill>
              <a:srgbClr val="2D27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8401050" y="960120"/>
            <a:ext cx="252603" cy="384048"/>
          </a:xfrm>
          <a:prstGeom prst="rect">
            <a:avLst/>
          </a:prstGeom>
          <a:solidFill>
            <a:srgbClr val="1D234F"/>
          </a:solidFill>
          <a:ln w="12700">
            <a:solidFill>
              <a:srgbClr val="1D23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91"/>
          <p:cNvSpPr/>
          <p:nvPr/>
        </p:nvSpPr>
        <p:spPr>
          <a:xfrm>
            <a:off x="8635365" y="960120"/>
            <a:ext cx="252603" cy="38404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7086600" y="9875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7086600" y="1572768"/>
            <a:ext cx="1691640" cy="1005840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7150608" y="1618488"/>
            <a:ext cx="1563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+ Speaking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7150608" y="1975104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w_s = 0.50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7150608" y="221284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w_v = 0.50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7086600" y="2688336"/>
            <a:ext cx="1691640" cy="1005840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7150608" y="2734056"/>
            <a:ext cx="1563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Face Detected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7150608" y="3090672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w_s = 1.00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7150608" y="332841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w_v = 0.00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7086600" y="3803904"/>
            <a:ext cx="1691640" cy="1005840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7150608" y="3849624"/>
            <a:ext cx="1563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Face, Not Speaking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7150608" y="4206240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w_s = 0.30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7150608" y="4443984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w_v = 0.70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61288" cy="841248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0"/>
            <a:ext cx="1161288" cy="841248"/>
          </a:xfrm>
          <a:prstGeom prst="rect">
            <a:avLst/>
          </a:prstGeom>
          <a:solidFill>
            <a:srgbClr val="0A182D"/>
          </a:solidFill>
          <a:ln w="12700">
            <a:solidFill>
              <a:srgbClr val="0A1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0"/>
            <a:ext cx="1161288" cy="841248"/>
          </a:xfrm>
          <a:prstGeom prst="rect">
            <a:avLst/>
          </a:prstGeom>
          <a:solidFill>
            <a:srgbClr val="09162A"/>
          </a:solidFill>
          <a:ln w="12700">
            <a:solidFill>
              <a:srgbClr val="0916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0"/>
            <a:ext cx="1161288" cy="841248"/>
          </a:xfrm>
          <a:prstGeom prst="rect">
            <a:avLst/>
          </a:prstGeom>
          <a:solidFill>
            <a:srgbClr val="081427"/>
          </a:solidFill>
          <a:ln w="12700">
            <a:solidFill>
              <a:srgbClr val="0814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1161288" cy="841248"/>
          </a:xfrm>
          <a:prstGeom prst="rect">
            <a:avLst/>
          </a:prstGeom>
          <a:solidFill>
            <a:srgbClr val="081223"/>
          </a:solidFill>
          <a:ln w="12700">
            <a:solidFill>
              <a:srgbClr val="0812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0"/>
            <a:ext cx="1161288" cy="841248"/>
          </a:xfrm>
          <a:prstGeom prst="rect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0"/>
            <a:ext cx="1161288" cy="841248"/>
          </a:xfrm>
          <a:prstGeom prst="rect">
            <a:avLst/>
          </a:prstGeom>
          <a:solidFill>
            <a:srgbClr val="060E1D"/>
          </a:solidFill>
          <a:ln w="12700">
            <a:solidFill>
              <a:srgbClr val="060E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0"/>
            <a:ext cx="1161288" cy="841248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EVALUATION LAYER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5852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LLM teacher  ·  Groq LLaMA-3  ·  Rubric-aligned competency scoring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960120"/>
            <a:ext cx="1993392" cy="3639312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960120"/>
            <a:ext cx="267462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23494" y="960120"/>
            <a:ext cx="267462" cy="54864"/>
          </a:xfrm>
          <a:prstGeom prst="rect">
            <a:avLst/>
          </a:prstGeom>
          <a:solidFill>
            <a:srgbClr val="4640CC"/>
          </a:solidFill>
          <a:ln w="12700">
            <a:solidFill>
              <a:srgbClr val="464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2668" y="960120"/>
            <a:ext cx="267462" cy="54864"/>
          </a:xfrm>
          <a:prstGeom prst="rect">
            <a:avLst/>
          </a:prstGeom>
          <a:solidFill>
            <a:srgbClr val="3C3BB3"/>
          </a:solidFill>
          <a:ln w="12700">
            <a:solidFill>
              <a:srgbClr val="3C3B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021842" y="960120"/>
            <a:ext cx="267462" cy="54864"/>
          </a:xfrm>
          <a:prstGeom prst="rect">
            <a:avLst/>
          </a:prstGeom>
          <a:solidFill>
            <a:srgbClr val="33359A"/>
          </a:solidFill>
          <a:ln w="12700">
            <a:solidFill>
              <a:srgbClr val="3335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271016" y="960120"/>
            <a:ext cx="267462" cy="54864"/>
          </a:xfrm>
          <a:prstGeom prst="rect">
            <a:avLst/>
          </a:prstGeom>
          <a:solidFill>
            <a:srgbClr val="293080"/>
          </a:solidFill>
          <a:ln w="12700">
            <a:solidFill>
              <a:srgbClr val="293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520190" y="960120"/>
            <a:ext cx="267462" cy="54864"/>
          </a:xfrm>
          <a:prstGeom prst="rect">
            <a:avLst/>
          </a:prstGeom>
          <a:solidFill>
            <a:srgbClr val="202A67"/>
          </a:solidFill>
          <a:ln w="12700">
            <a:solidFill>
              <a:srgbClr val="202A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769364" y="960120"/>
            <a:ext cx="267462" cy="54864"/>
          </a:xfrm>
          <a:prstGeom prst="rect">
            <a:avLst/>
          </a:prstGeom>
          <a:solidFill>
            <a:srgbClr val="16254E"/>
          </a:solidFill>
          <a:ln w="12700">
            <a:solidFill>
              <a:srgbClr val="1625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018538" y="960120"/>
            <a:ext cx="267462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68680" y="1097280"/>
            <a:ext cx="804672" cy="804672"/>
          </a:xfrm>
          <a:prstGeom prst="ellipse">
            <a:avLst/>
          </a:prstGeom>
          <a:solidFill>
            <a:srgbClr val="4F46E5">
              <a:alpha val="80000"/>
            </a:srgbClr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68680" y="10972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5760" y="202996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2651760"/>
            <a:ext cx="1261872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84048" y="2788920"/>
            <a:ext cx="177393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text + required skills + question rubric + optional resume → text chunks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67712" y="248716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2450592" y="960120"/>
            <a:ext cx="1993392" cy="3639312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450592" y="960120"/>
            <a:ext cx="26746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699766" y="960120"/>
            <a:ext cx="267462" cy="54864"/>
          </a:xfrm>
          <a:prstGeom prst="rect">
            <a:avLst/>
          </a:prstGeom>
          <a:solidFill>
            <a:srgbClr val="6C36D3"/>
          </a:solidFill>
          <a:ln w="12700">
            <a:solidFill>
              <a:srgbClr val="6C3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948940" y="960120"/>
            <a:ext cx="267462" cy="54864"/>
          </a:xfrm>
          <a:prstGeom prst="rect">
            <a:avLst/>
          </a:prstGeom>
          <a:solidFill>
            <a:srgbClr val="5C32B8"/>
          </a:solidFill>
          <a:ln w="12700">
            <a:solidFill>
              <a:srgbClr val="5C32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198114" y="960120"/>
            <a:ext cx="267462" cy="54864"/>
          </a:xfrm>
          <a:prstGeom prst="rect">
            <a:avLst/>
          </a:prstGeom>
          <a:solidFill>
            <a:srgbClr val="4C2E9E"/>
          </a:solidFill>
          <a:ln w="12700">
            <a:solidFill>
              <a:srgbClr val="4C2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447288" y="960120"/>
            <a:ext cx="267462" cy="54864"/>
          </a:xfrm>
          <a:prstGeom prst="rect">
            <a:avLst/>
          </a:prstGeom>
          <a:solidFill>
            <a:srgbClr val="3D2B84"/>
          </a:solidFill>
          <a:ln w="12700">
            <a:solidFill>
              <a:srgbClr val="3D2B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696462" y="960120"/>
            <a:ext cx="267462" cy="54864"/>
          </a:xfrm>
          <a:prstGeom prst="rect">
            <a:avLst/>
          </a:prstGeom>
          <a:solidFill>
            <a:srgbClr val="2D276A"/>
          </a:solidFill>
          <a:ln w="12700">
            <a:solidFill>
              <a:srgbClr val="2D27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945636" y="960120"/>
            <a:ext cx="267462" cy="54864"/>
          </a:xfrm>
          <a:prstGeom prst="rect">
            <a:avLst/>
          </a:prstGeom>
          <a:solidFill>
            <a:srgbClr val="1D234F"/>
          </a:solidFill>
          <a:ln w="12700">
            <a:solidFill>
              <a:srgbClr val="1D23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194810" y="960120"/>
            <a:ext cx="267462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044952" y="1097280"/>
            <a:ext cx="804672" cy="804672"/>
          </a:xfrm>
          <a:prstGeom prst="ellipse">
            <a:avLst/>
          </a:prstGeom>
          <a:solidFill>
            <a:srgbClr val="7C3AED">
              <a:alpha val="80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044952" y="10972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542032" y="202996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2816352" y="2651760"/>
            <a:ext cx="126187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560320" y="2788920"/>
            <a:ext cx="177393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dense embeddings + BM25 lexical fallback → top-k retrieval per query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443984" y="248716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4626864" y="960120"/>
            <a:ext cx="1993392" cy="3639312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626864" y="960120"/>
            <a:ext cx="26746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876038" y="960120"/>
            <a:ext cx="267462" cy="54864"/>
          </a:xfrm>
          <a:prstGeom prst="rect">
            <a:avLst/>
          </a:prstGeom>
          <a:solidFill>
            <a:srgbClr val="D48C11"/>
          </a:solidFill>
          <a:ln w="12700">
            <a:solidFill>
              <a:srgbClr val="D48C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5125212" y="960120"/>
            <a:ext cx="267462" cy="54864"/>
          </a:xfrm>
          <a:prstGeom prst="rect">
            <a:avLst/>
          </a:prstGeom>
          <a:solidFill>
            <a:srgbClr val="B37A17"/>
          </a:solidFill>
          <a:ln w="12700">
            <a:solidFill>
              <a:srgbClr val="B37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5374386" y="960120"/>
            <a:ext cx="267462" cy="54864"/>
          </a:xfrm>
          <a:prstGeom prst="rect">
            <a:avLst/>
          </a:prstGeom>
          <a:solidFill>
            <a:srgbClr val="92681D"/>
          </a:solidFill>
          <a:ln w="12700">
            <a:solidFill>
              <a:srgbClr val="9268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623560" y="960120"/>
            <a:ext cx="267462" cy="54864"/>
          </a:xfrm>
          <a:prstGeom prst="rect">
            <a:avLst/>
          </a:prstGeom>
          <a:solidFill>
            <a:srgbClr val="705523"/>
          </a:solidFill>
          <a:ln w="12700">
            <a:solidFill>
              <a:srgbClr val="7055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5872734" y="960120"/>
            <a:ext cx="267462" cy="54864"/>
          </a:xfrm>
          <a:prstGeom prst="rect">
            <a:avLst/>
          </a:prstGeom>
          <a:solidFill>
            <a:srgbClr val="4F4329"/>
          </a:solidFill>
          <a:ln w="12700">
            <a:solidFill>
              <a:srgbClr val="4F43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121908" y="960120"/>
            <a:ext cx="267462" cy="54864"/>
          </a:xfrm>
          <a:prstGeom prst="rect">
            <a:avLst/>
          </a:prstGeom>
          <a:solidFill>
            <a:srgbClr val="2E312F"/>
          </a:solidFill>
          <a:ln w="12700">
            <a:solidFill>
              <a:srgbClr val="2E31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371082" y="960120"/>
            <a:ext cx="267462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5221224" y="1097280"/>
            <a:ext cx="804672" cy="804672"/>
          </a:xfrm>
          <a:prstGeom prst="ellipse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221224" y="10972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718304" y="202996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4992624" y="2651760"/>
            <a:ext cx="1261872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736592" y="2788920"/>
            <a:ext cx="177393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gets: question + candidate answer + retrieved chunks → rubric-aligned JSON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620256" y="248716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6803136" y="960120"/>
            <a:ext cx="1993392" cy="3639312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6803136" y="960120"/>
            <a:ext cx="26746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7052310" y="960120"/>
            <a:ext cx="267462" cy="54864"/>
          </a:xfrm>
          <a:prstGeom prst="rect">
            <a:avLst/>
          </a:prstGeom>
          <a:solidFill>
            <a:srgbClr val="10A376"/>
          </a:solidFill>
          <a:ln w="12700">
            <a:solidFill>
              <a:srgbClr val="10A3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7301484" y="960120"/>
            <a:ext cx="267462" cy="54864"/>
          </a:xfrm>
          <a:prstGeom prst="rect">
            <a:avLst/>
          </a:prstGeom>
          <a:solidFill>
            <a:srgbClr val="0F8D6B"/>
          </a:solidFill>
          <a:ln w="12700">
            <a:solidFill>
              <a:srgbClr val="0F8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550658" y="960120"/>
            <a:ext cx="267462" cy="54864"/>
          </a:xfrm>
          <a:prstGeom prst="rect">
            <a:avLst/>
          </a:prstGeom>
          <a:solidFill>
            <a:srgbClr val="0F7760"/>
          </a:solidFill>
          <a:ln w="12700">
            <a:solidFill>
              <a:srgbClr val="0F77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7799832" y="960120"/>
            <a:ext cx="267462" cy="54864"/>
          </a:xfrm>
          <a:prstGeom prst="rect">
            <a:avLst/>
          </a:prstGeom>
          <a:solidFill>
            <a:srgbClr val="0E6156"/>
          </a:solidFill>
          <a:ln w="12700">
            <a:solidFill>
              <a:srgbClr val="0E61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8049006" y="960120"/>
            <a:ext cx="267462" cy="54864"/>
          </a:xfrm>
          <a:prstGeom prst="rect">
            <a:avLst/>
          </a:prstGeom>
          <a:solidFill>
            <a:srgbClr val="0E4B4B"/>
          </a:solidFill>
          <a:ln w="12700">
            <a:solidFill>
              <a:srgbClr val="0E4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8298180" y="960120"/>
            <a:ext cx="267462" cy="54864"/>
          </a:xfrm>
          <a:prstGeom prst="rect">
            <a:avLst/>
          </a:prstGeom>
          <a:solidFill>
            <a:srgbClr val="0D3540"/>
          </a:solidFill>
          <a:ln w="12700">
            <a:solidFill>
              <a:srgbClr val="0D35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8547354" y="960120"/>
            <a:ext cx="267462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7397496" y="1097280"/>
            <a:ext cx="804672" cy="804672"/>
          </a:xfrm>
          <a:prstGeom prst="ellipse">
            <a:avLst/>
          </a:prstGeom>
          <a:solidFill>
            <a:srgbClr val="10B981">
              <a:alpha val="8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7397496" y="10972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6894576" y="202996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50" dirty="0"/>
          </a:p>
        </p:txBody>
      </p:sp>
      <p:sp>
        <p:nvSpPr>
          <p:cNvPr id="69" name="Shape 67"/>
          <p:cNvSpPr/>
          <p:nvPr/>
        </p:nvSpPr>
        <p:spPr>
          <a:xfrm>
            <a:off x="7168896" y="2651760"/>
            <a:ext cx="1261872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912864" y="2788920"/>
            <a:ext cx="177393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precision, citation recall, groundedness score stored in MongoDB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274320" y="4773168"/>
            <a:ext cx="10927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1348740" y="4773168"/>
            <a:ext cx="1092708" cy="347472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2423160" y="4773168"/>
            <a:ext cx="1092708" cy="347472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3497580" y="4773168"/>
            <a:ext cx="1092708" cy="347472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4572000" y="4773168"/>
            <a:ext cx="1092708" cy="347472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5646420" y="4773168"/>
            <a:ext cx="1092708" cy="347472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6720840" y="4773168"/>
            <a:ext cx="1092708" cy="347472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7795260" y="4773168"/>
            <a:ext cx="1092708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Competencies:   Technical   ·   Clarity   ·   Confidence   ·   Conciseness   ·   Engagement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61288" cy="841248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0"/>
            <a:ext cx="1161288" cy="841248"/>
          </a:xfrm>
          <a:prstGeom prst="rect">
            <a:avLst/>
          </a:prstGeom>
          <a:solidFill>
            <a:srgbClr val="0A182D"/>
          </a:solidFill>
          <a:ln w="12700">
            <a:solidFill>
              <a:srgbClr val="0A1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0"/>
            <a:ext cx="1161288" cy="841248"/>
          </a:xfrm>
          <a:prstGeom prst="rect">
            <a:avLst/>
          </a:prstGeom>
          <a:solidFill>
            <a:srgbClr val="09162A"/>
          </a:solidFill>
          <a:ln w="12700">
            <a:solidFill>
              <a:srgbClr val="0916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0"/>
            <a:ext cx="1161288" cy="841248"/>
          </a:xfrm>
          <a:prstGeom prst="rect">
            <a:avLst/>
          </a:prstGeom>
          <a:solidFill>
            <a:srgbClr val="081427"/>
          </a:solidFill>
          <a:ln w="12700">
            <a:solidFill>
              <a:srgbClr val="0814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1161288" cy="841248"/>
          </a:xfrm>
          <a:prstGeom prst="rect">
            <a:avLst/>
          </a:prstGeom>
          <a:solidFill>
            <a:srgbClr val="081223"/>
          </a:solidFill>
          <a:ln w="12700">
            <a:solidFill>
              <a:srgbClr val="0812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0"/>
            <a:ext cx="1161288" cy="841248"/>
          </a:xfrm>
          <a:prstGeom prst="rect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0"/>
            <a:ext cx="1161288" cy="841248"/>
          </a:xfrm>
          <a:prstGeom prst="rect">
            <a:avLst/>
          </a:prstGeom>
          <a:solidFill>
            <a:srgbClr val="060E1D"/>
          </a:solidFill>
          <a:ln w="12700">
            <a:solidFill>
              <a:srgbClr val="060E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0"/>
            <a:ext cx="1161288" cy="841248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DEPLOYMENT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5852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Python-free backend  ·  Cloud ML inference  ·  Zero code change to switch modes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960120"/>
            <a:ext cx="5102352" cy="3913632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960120"/>
            <a:ext cx="65608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12114" y="960120"/>
            <a:ext cx="656082" cy="384048"/>
          </a:xfrm>
          <a:prstGeom prst="rect">
            <a:avLst/>
          </a:prstGeom>
          <a:solidFill>
            <a:srgbClr val="0D837C"/>
          </a:solidFill>
          <a:ln w="12700">
            <a:solidFill>
              <a:srgbClr val="0D83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549908" y="960120"/>
            <a:ext cx="656082" cy="384048"/>
          </a:xfrm>
          <a:prstGeom prst="rect">
            <a:avLst/>
          </a:prstGeom>
          <a:solidFill>
            <a:srgbClr val="0D7370"/>
          </a:solidFill>
          <a:ln w="12700">
            <a:solidFill>
              <a:srgbClr val="0D73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187702" y="960120"/>
            <a:ext cx="656082" cy="384048"/>
          </a:xfrm>
          <a:prstGeom prst="rect">
            <a:avLst/>
          </a:prstGeom>
          <a:solidFill>
            <a:srgbClr val="0D6264"/>
          </a:solidFill>
          <a:ln w="12700">
            <a:solidFill>
              <a:srgbClr val="0D6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825496" y="960120"/>
            <a:ext cx="656082" cy="384048"/>
          </a:xfrm>
          <a:prstGeom prst="rect">
            <a:avLst/>
          </a:prstGeom>
          <a:solidFill>
            <a:srgbClr val="0D5159"/>
          </a:solidFill>
          <a:ln w="12700">
            <a:solidFill>
              <a:srgbClr val="0D51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463290" y="960120"/>
            <a:ext cx="656082" cy="384048"/>
          </a:xfrm>
          <a:prstGeom prst="rect">
            <a:avLst/>
          </a:prstGeom>
          <a:solidFill>
            <a:srgbClr val="0D404D"/>
          </a:solidFill>
          <a:ln w="12700">
            <a:solidFill>
              <a:srgbClr val="0D40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01084" y="960120"/>
            <a:ext cx="656082" cy="384048"/>
          </a:xfrm>
          <a:prstGeom prst="rect">
            <a:avLst/>
          </a:prstGeom>
          <a:solidFill>
            <a:srgbClr val="0D3041"/>
          </a:solidFill>
          <a:ln w="12700">
            <a:solidFill>
              <a:srgbClr val="0D30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38878" y="960120"/>
            <a:ext cx="656082" cy="38404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38912" y="10058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4048" y="1481328"/>
            <a:ext cx="4892040" cy="512064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8912" y="1572768"/>
            <a:ext cx="329184" cy="329184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38912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9536" y="1517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submits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9536" y="1728216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POST multipart/form-data  →  audio + video files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" y="2103120"/>
            <a:ext cx="4892040" cy="512064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38912" y="2194560"/>
            <a:ext cx="329184" cy="329184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38912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9536" y="213969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Space receives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9536" y="2350008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Gradio+FastAPI endpoint /analyze  →  processes streams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" y="2724912"/>
            <a:ext cx="4892040" cy="512064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38912" y="2816352"/>
            <a:ext cx="329184" cy="329184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38912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9536" y="27614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9536" y="2971800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(audio)  +  MediaPipe (video)  →  feature dicts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4048" y="3346704"/>
            <a:ext cx="4892040" cy="512064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38912" y="3438144"/>
            <a:ext cx="329184" cy="329184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38912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59536" y="33832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9536" y="3593592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VoiceAnalysis + FacialAnalysis → backend score pipeline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84048" y="3968496"/>
            <a:ext cx="4892040" cy="512064"/>
          </a:xfrm>
          <a:prstGeom prst="rect">
            <a:avLst/>
          </a:prstGeom>
          <a:solidFill>
            <a:srgbClr val="0F25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38912" y="4059936"/>
            <a:ext cx="329184" cy="329184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38912" y="4059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9536" y="40050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59536" y="4215384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attempts, exponential backoff: 2s / 4s / 8s  →  120s timeout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84048" y="4617720"/>
            <a:ext cx="629793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995553" y="4617720"/>
            <a:ext cx="629793" cy="256032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1607058" y="4617720"/>
            <a:ext cx="629793" cy="256032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2218563" y="4617720"/>
            <a:ext cx="629793" cy="256032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830068" y="4617720"/>
            <a:ext cx="629793" cy="256032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3441573" y="4617720"/>
            <a:ext cx="629793" cy="256032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053078" y="4617720"/>
            <a:ext cx="629793" cy="256032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664583" y="4617720"/>
            <a:ext cx="629793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84048" y="46177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USE_LOCAL_ANALYZER=true/false  —  seamless toggle, zero code change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577840" y="960120"/>
            <a:ext cx="3246120" cy="3913632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5577840" y="960120"/>
            <a:ext cx="424053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5983605" y="960120"/>
            <a:ext cx="424053" cy="384048"/>
          </a:xfrm>
          <a:prstGeom prst="rect">
            <a:avLst/>
          </a:prstGeom>
          <a:solidFill>
            <a:srgbClr val="10A376"/>
          </a:solidFill>
          <a:ln w="12700">
            <a:solidFill>
              <a:srgbClr val="10A3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6389370" y="960120"/>
            <a:ext cx="424053" cy="384048"/>
          </a:xfrm>
          <a:prstGeom prst="rect">
            <a:avLst/>
          </a:prstGeom>
          <a:solidFill>
            <a:srgbClr val="0F8D6B"/>
          </a:solidFill>
          <a:ln w="12700">
            <a:solidFill>
              <a:srgbClr val="0F8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6795135" y="960120"/>
            <a:ext cx="424053" cy="384048"/>
          </a:xfrm>
          <a:prstGeom prst="rect">
            <a:avLst/>
          </a:prstGeom>
          <a:solidFill>
            <a:srgbClr val="0F7760"/>
          </a:solidFill>
          <a:ln w="12700">
            <a:solidFill>
              <a:srgbClr val="0F77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200900" y="960120"/>
            <a:ext cx="424053" cy="384048"/>
          </a:xfrm>
          <a:prstGeom prst="rect">
            <a:avLst/>
          </a:prstGeom>
          <a:solidFill>
            <a:srgbClr val="0E6156"/>
          </a:solidFill>
          <a:ln w="12700">
            <a:solidFill>
              <a:srgbClr val="0E61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7606665" y="960120"/>
            <a:ext cx="424053" cy="384048"/>
          </a:xfrm>
          <a:prstGeom prst="rect">
            <a:avLst/>
          </a:prstGeom>
          <a:solidFill>
            <a:srgbClr val="0E4B4B"/>
          </a:solidFill>
          <a:ln w="12700">
            <a:solidFill>
              <a:srgbClr val="0E4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8012430" y="960120"/>
            <a:ext cx="424053" cy="384048"/>
          </a:xfrm>
          <a:prstGeom prst="rect">
            <a:avLst/>
          </a:prstGeom>
          <a:solidFill>
            <a:srgbClr val="0D3540"/>
          </a:solidFill>
          <a:ln w="12700">
            <a:solidFill>
              <a:srgbClr val="0D35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8418195" y="960120"/>
            <a:ext cx="424053" cy="38404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5742432" y="10058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742432" y="1527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analysis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479792" y="1527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742432" y="1783080"/>
            <a:ext cx="2889504" cy="14630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5742432" y="1783080"/>
            <a:ext cx="722376" cy="14630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5742432" y="21854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analysis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479792" y="21854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742432" y="2441448"/>
            <a:ext cx="2889504" cy="14630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5742432" y="2441448"/>
            <a:ext cx="1300277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5742432" y="28437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(warm)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479792" y="28437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 s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742432" y="3099816"/>
            <a:ext cx="2889504" cy="14630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5742432" y="3099816"/>
            <a:ext cx="1733702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5742432" y="35021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479792" y="3502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s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742432" y="3758184"/>
            <a:ext cx="2889504" cy="14630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5742432" y="3758184"/>
            <a:ext cx="260055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5742432" y="4160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retry timeout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7479792" y="41605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742432" y="4416552"/>
            <a:ext cx="2889504" cy="14630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5742432" y="4416552"/>
            <a:ext cx="2889504" cy="14630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9773" cy="5143500"/>
          </a:xfrm>
          <a:prstGeom prst="rect">
            <a:avLst/>
          </a:prstGeom>
          <a:solidFill>
            <a:srgbClr val="050C1C"/>
          </a:solidFill>
          <a:ln w="12700">
            <a:solidFill>
              <a:srgbClr val="050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1485" y="0"/>
            <a:ext cx="469773" cy="5143500"/>
          </a:xfrm>
          <a:prstGeom prst="rect">
            <a:avLst/>
          </a:prstGeom>
          <a:solidFill>
            <a:srgbClr val="050D1E"/>
          </a:solidFill>
          <a:ln w="12700">
            <a:solidFill>
              <a:srgbClr val="05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02970" y="0"/>
            <a:ext cx="469773" cy="5143500"/>
          </a:xfrm>
          <a:prstGeom prst="rect">
            <a:avLst/>
          </a:prstGeom>
          <a:solidFill>
            <a:srgbClr val="060E20"/>
          </a:solidFill>
          <a:ln w="12700">
            <a:solidFill>
              <a:srgbClr val="060E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54455" y="0"/>
            <a:ext cx="469773" cy="5143500"/>
          </a:xfrm>
          <a:prstGeom prst="rect">
            <a:avLst/>
          </a:prstGeom>
          <a:solidFill>
            <a:srgbClr val="060F22"/>
          </a:solidFill>
          <a:ln w="12700">
            <a:solidFill>
              <a:srgbClr val="060F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05940" y="0"/>
            <a:ext cx="469773" cy="5143500"/>
          </a:xfrm>
          <a:prstGeom prst="rect">
            <a:avLst/>
          </a:prstGeom>
          <a:solidFill>
            <a:srgbClr val="071124"/>
          </a:solidFill>
          <a:ln w="12700">
            <a:solidFill>
              <a:srgbClr val="0711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57425" y="0"/>
            <a:ext cx="469773" cy="5143500"/>
          </a:xfrm>
          <a:prstGeom prst="rect">
            <a:avLst/>
          </a:prstGeom>
          <a:solidFill>
            <a:srgbClr val="071226"/>
          </a:solidFill>
          <a:ln w="12700">
            <a:solidFill>
              <a:srgbClr val="071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08910" y="0"/>
            <a:ext cx="469773" cy="5143500"/>
          </a:xfrm>
          <a:prstGeom prst="rect">
            <a:avLst/>
          </a:prstGeom>
          <a:solidFill>
            <a:srgbClr val="081328"/>
          </a:solidFill>
          <a:ln w="12700">
            <a:solidFill>
              <a:srgbClr val="0813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160395" y="0"/>
            <a:ext cx="469773" cy="5143500"/>
          </a:xfrm>
          <a:prstGeom prst="rect">
            <a:avLst/>
          </a:prstGeom>
          <a:solidFill>
            <a:srgbClr val="08142A"/>
          </a:solidFill>
          <a:ln w="12700">
            <a:solidFill>
              <a:srgbClr val="081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11880" y="0"/>
            <a:ext cx="2743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21024" y="0"/>
            <a:ext cx="27432" cy="5143500"/>
          </a:xfrm>
          <a:prstGeom prst="rect">
            <a:avLst/>
          </a:prstGeom>
          <a:solidFill>
            <a:srgbClr val="443EC8"/>
          </a:solidFill>
          <a:ln w="12700">
            <a:solidFill>
              <a:srgbClr val="443E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30168" y="0"/>
            <a:ext cx="27432" cy="5143500"/>
          </a:xfrm>
          <a:prstGeom prst="rect">
            <a:avLst/>
          </a:prstGeom>
          <a:solidFill>
            <a:srgbClr val="3A35AB"/>
          </a:solidFill>
          <a:ln w="12700">
            <a:solidFill>
              <a:srgbClr val="3A35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39312" y="0"/>
            <a:ext cx="27432" cy="5143500"/>
          </a:xfrm>
          <a:prstGeom prst="rect">
            <a:avLst/>
          </a:prstGeom>
          <a:solidFill>
            <a:srgbClr val="2F2D8E"/>
          </a:solidFill>
          <a:ln w="12700">
            <a:solidFill>
              <a:srgbClr val="2F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48456" y="0"/>
            <a:ext cx="27432" cy="5143500"/>
          </a:xfrm>
          <a:prstGeom prst="rect">
            <a:avLst/>
          </a:prstGeom>
          <a:solidFill>
            <a:srgbClr val="252571"/>
          </a:solidFill>
          <a:ln w="12700">
            <a:solidFill>
              <a:srgbClr val="2525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0" y="0"/>
            <a:ext cx="27432" cy="5143500"/>
          </a:xfrm>
          <a:prstGeom prst="rect">
            <a:avLst/>
          </a:prstGeom>
          <a:solidFill>
            <a:srgbClr val="1A1D54"/>
          </a:solidFill>
          <a:ln w="12700">
            <a:solidFill>
              <a:srgbClr val="1A1D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66744" y="0"/>
            <a:ext cx="27432" cy="5143500"/>
          </a:xfrm>
          <a:prstGeom prst="rect">
            <a:avLst/>
          </a:prstGeom>
          <a:solidFill>
            <a:srgbClr val="101437"/>
          </a:solidFill>
          <a:ln w="12700">
            <a:solidFill>
              <a:srgbClr val="1014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75888" y="0"/>
            <a:ext cx="27432" cy="5143500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AE77491-9D66-17ED-774A-F6A19BD1AC69}"/>
              </a:ext>
            </a:extLst>
          </p:cNvPr>
          <p:cNvGrpSpPr/>
          <p:nvPr/>
        </p:nvGrpSpPr>
        <p:grpSpPr>
          <a:xfrm>
            <a:off x="615461" y="684394"/>
            <a:ext cx="2971800" cy="3659007"/>
            <a:chOff x="320040" y="684394"/>
            <a:chExt cx="2971800" cy="3659007"/>
          </a:xfrm>
        </p:grpSpPr>
        <p:sp>
          <p:nvSpPr>
            <p:cNvPr id="18" name="Text 16"/>
            <p:cNvSpPr/>
            <p:nvPr/>
          </p:nvSpPr>
          <p:spPr>
            <a:xfrm>
              <a:off x="320040" y="684394"/>
              <a:ext cx="2971800" cy="1280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4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PILOT</a:t>
              </a:r>
              <a:endParaRPr lang="en-US" sz="4200" dirty="0"/>
            </a:p>
            <a:p>
              <a:pPr marL="0" indent="0">
                <a:lnSpc>
                  <a:spcPct val="100000"/>
                </a:lnSpc>
                <a:buNone/>
              </a:pPr>
              <a:r>
                <a:rPr lang="en-US" sz="4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RESULTS</a:t>
              </a:r>
              <a:endParaRPr lang="en-US" sz="4200" dirty="0"/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A8C370C-4C6A-016C-BA52-7AB640ADD527}"/>
                </a:ext>
              </a:extLst>
            </p:cNvPr>
            <p:cNvGrpSpPr/>
            <p:nvPr/>
          </p:nvGrpSpPr>
          <p:grpSpPr>
            <a:xfrm>
              <a:off x="320040" y="2112762"/>
              <a:ext cx="1664208" cy="41220"/>
              <a:chOff x="320040" y="1719072"/>
              <a:chExt cx="1664208" cy="54864"/>
            </a:xfrm>
          </p:grpSpPr>
          <p:sp>
            <p:nvSpPr>
              <p:cNvPr id="19" name="Shape 17"/>
              <p:cNvSpPr/>
              <p:nvPr/>
            </p:nvSpPr>
            <p:spPr>
              <a:xfrm>
                <a:off x="320040" y="1719072"/>
                <a:ext cx="224028" cy="54864"/>
              </a:xfrm>
              <a:prstGeom prst="rect">
                <a:avLst/>
              </a:prstGeom>
              <a:solidFill>
                <a:srgbClr val="4F46E5"/>
              </a:solidFill>
              <a:ln w="12700">
                <a:solidFill>
                  <a:srgbClr val="4F46E5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Shape 18"/>
              <p:cNvSpPr/>
              <p:nvPr/>
            </p:nvSpPr>
            <p:spPr>
              <a:xfrm>
                <a:off x="525780" y="1719072"/>
                <a:ext cx="224028" cy="54864"/>
              </a:xfrm>
              <a:prstGeom prst="rect">
                <a:avLst/>
              </a:prstGeom>
              <a:solidFill>
                <a:srgbClr val="5544E6"/>
              </a:solidFill>
              <a:ln w="12700">
                <a:solidFill>
                  <a:srgbClr val="5544E6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Shape 19"/>
              <p:cNvSpPr/>
              <p:nvPr/>
            </p:nvSpPr>
            <p:spPr>
              <a:xfrm>
                <a:off x="731520" y="1719072"/>
                <a:ext cx="224028" cy="54864"/>
              </a:xfrm>
              <a:prstGeom prst="rect">
                <a:avLst/>
              </a:prstGeom>
              <a:solidFill>
                <a:srgbClr val="5C43E7"/>
              </a:solidFill>
              <a:ln w="12700">
                <a:solidFill>
                  <a:srgbClr val="5C43E7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Shape 20"/>
              <p:cNvSpPr/>
              <p:nvPr/>
            </p:nvSpPr>
            <p:spPr>
              <a:xfrm>
                <a:off x="937260" y="1719072"/>
                <a:ext cx="224028" cy="54864"/>
              </a:xfrm>
              <a:prstGeom prst="rect">
                <a:avLst/>
              </a:prstGeom>
              <a:solidFill>
                <a:srgbClr val="6241E8"/>
              </a:solidFill>
              <a:ln w="12700">
                <a:solidFill>
                  <a:srgbClr val="6241E8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Shape 21"/>
              <p:cNvSpPr/>
              <p:nvPr/>
            </p:nvSpPr>
            <p:spPr>
              <a:xfrm>
                <a:off x="1143000" y="1719072"/>
                <a:ext cx="224028" cy="54864"/>
              </a:xfrm>
              <a:prstGeom prst="rect">
                <a:avLst/>
              </a:prstGeom>
              <a:solidFill>
                <a:srgbClr val="693FEA"/>
              </a:solidFill>
              <a:ln w="12700">
                <a:solidFill>
                  <a:srgbClr val="693FEA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Shape 22"/>
              <p:cNvSpPr/>
              <p:nvPr/>
            </p:nvSpPr>
            <p:spPr>
              <a:xfrm>
                <a:off x="1348740" y="1719072"/>
                <a:ext cx="224028" cy="54864"/>
              </a:xfrm>
              <a:prstGeom prst="rect">
                <a:avLst/>
              </a:prstGeom>
              <a:solidFill>
                <a:srgbClr val="6F3DEB"/>
              </a:solidFill>
              <a:ln w="12700">
                <a:solidFill>
                  <a:srgbClr val="6F3DEB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Shape 23"/>
              <p:cNvSpPr/>
              <p:nvPr/>
            </p:nvSpPr>
            <p:spPr>
              <a:xfrm>
                <a:off x="1554480" y="1719072"/>
                <a:ext cx="224028" cy="54864"/>
              </a:xfrm>
              <a:prstGeom prst="rect">
                <a:avLst/>
              </a:prstGeom>
              <a:solidFill>
                <a:srgbClr val="763CEC"/>
              </a:solidFill>
              <a:ln w="12700">
                <a:solidFill>
                  <a:srgbClr val="763CEC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Shape 24"/>
              <p:cNvSpPr/>
              <p:nvPr/>
            </p:nvSpPr>
            <p:spPr>
              <a:xfrm>
                <a:off x="1760220" y="1719072"/>
                <a:ext cx="224028" cy="54864"/>
              </a:xfrm>
              <a:prstGeom prst="rect">
                <a:avLst/>
              </a:prstGeom>
              <a:solidFill>
                <a:srgbClr val="7C3AED"/>
              </a:solidFill>
              <a:ln w="12700">
                <a:solidFill>
                  <a:srgbClr val="7C3AED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 25"/>
            <p:cNvSpPr/>
            <p:nvPr/>
          </p:nvSpPr>
          <p:spPr>
            <a:xfrm>
              <a:off x="320040" y="2267713"/>
              <a:ext cx="297180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0" b="1" dirty="0">
                  <a:solidFill>
                    <a:srgbClr val="4F46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58</a:t>
              </a:r>
              <a:endParaRPr lang="en-US" sz="110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320040" y="3675889"/>
              <a:ext cx="2971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kern="0" spc="5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SESSIONS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320040" y="4069081"/>
              <a:ext cx="2971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Feb 21 – Mar 7, 2026</a:t>
              </a:r>
              <a:endParaRPr lang="en-US" sz="1100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B0CF892-27BA-20EC-57E5-7AE82B4B1F1A}"/>
              </a:ext>
            </a:extLst>
          </p:cNvPr>
          <p:cNvGrpSpPr/>
          <p:nvPr/>
        </p:nvGrpSpPr>
        <p:grpSpPr>
          <a:xfrm>
            <a:off x="3913632" y="257442"/>
            <a:ext cx="5157216" cy="1325880"/>
            <a:chOff x="3913632" y="109728"/>
            <a:chExt cx="5157216" cy="1325880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BDDD6C5A-361B-8CE0-4E66-58E07ECD6B7A}"/>
                </a:ext>
              </a:extLst>
            </p:cNvPr>
            <p:cNvGrpSpPr/>
            <p:nvPr/>
          </p:nvGrpSpPr>
          <p:grpSpPr>
            <a:xfrm>
              <a:off x="3913632" y="109728"/>
              <a:ext cx="1645920" cy="1325880"/>
              <a:chOff x="3913632" y="109728"/>
              <a:chExt cx="1645920" cy="1325880"/>
            </a:xfrm>
          </p:grpSpPr>
          <p:sp>
            <p:nvSpPr>
              <p:cNvPr id="30" name="Shape 28"/>
              <p:cNvSpPr/>
              <p:nvPr/>
            </p:nvSpPr>
            <p:spPr>
              <a:xfrm>
                <a:off x="3913632" y="109728"/>
                <a:ext cx="1627632" cy="1325880"/>
              </a:xfrm>
              <a:prstGeom prst="rect">
                <a:avLst/>
              </a:prstGeom>
              <a:solidFill>
                <a:srgbClr val="0D1F35"/>
              </a:solidFill>
              <a:ln w="6350">
                <a:solidFill>
                  <a:srgbClr val="1E3A5F"/>
                </a:solidFill>
                <a:prstDash val="solid"/>
              </a:ln>
              <a:effectLst>
                <a:outerShdw blurRad="127000" dist="25400" dir="8100000" algn="bl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C8622519-C5A7-B960-7218-E5FC896599B6}"/>
                  </a:ext>
                </a:extLst>
              </p:cNvPr>
              <p:cNvGrpSpPr/>
              <p:nvPr/>
            </p:nvGrpSpPr>
            <p:grpSpPr>
              <a:xfrm>
                <a:off x="3913632" y="109728"/>
                <a:ext cx="1645920" cy="54864"/>
                <a:chOff x="3913632" y="109728"/>
                <a:chExt cx="1645920" cy="54864"/>
              </a:xfrm>
            </p:grpSpPr>
            <p:sp>
              <p:nvSpPr>
                <p:cNvPr id="31" name="Shape 29"/>
                <p:cNvSpPr/>
                <p:nvPr/>
              </p:nvSpPr>
              <p:spPr>
                <a:xfrm>
                  <a:off x="3913632" y="109728"/>
                  <a:ext cx="221742" cy="54864"/>
                </a:xfrm>
                <a:prstGeom prst="rect">
                  <a:avLst/>
                </a:prstGeom>
                <a:solidFill>
                  <a:srgbClr val="06B6D4"/>
                </a:solidFill>
                <a:ln w="12700">
                  <a:solidFill>
                    <a:srgbClr val="06B6D4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2" name="Shape 30"/>
                <p:cNvSpPr/>
                <p:nvPr/>
              </p:nvSpPr>
              <p:spPr>
                <a:xfrm>
                  <a:off x="4117086" y="109728"/>
                  <a:ext cx="221742" cy="54864"/>
                </a:xfrm>
                <a:prstGeom prst="rect">
                  <a:avLst/>
                </a:prstGeom>
                <a:solidFill>
                  <a:srgbClr val="07A0BD"/>
                </a:solidFill>
                <a:ln w="12700">
                  <a:solidFill>
                    <a:srgbClr val="07A0BD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3" name="Shape 31"/>
                <p:cNvSpPr/>
                <p:nvPr/>
              </p:nvSpPr>
              <p:spPr>
                <a:xfrm>
                  <a:off x="4320540" y="109728"/>
                  <a:ext cx="221742" cy="54864"/>
                </a:xfrm>
                <a:prstGeom prst="rect">
                  <a:avLst/>
                </a:prstGeom>
                <a:solidFill>
                  <a:srgbClr val="088BA7"/>
                </a:solidFill>
                <a:ln w="12700">
                  <a:solidFill>
                    <a:srgbClr val="088BA7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4" name="Shape 32"/>
                <p:cNvSpPr/>
                <p:nvPr/>
              </p:nvSpPr>
              <p:spPr>
                <a:xfrm>
                  <a:off x="4523994" y="109728"/>
                  <a:ext cx="221742" cy="54864"/>
                </a:xfrm>
                <a:prstGeom prst="rect">
                  <a:avLst/>
                </a:prstGeom>
                <a:solidFill>
                  <a:srgbClr val="097590"/>
                </a:solidFill>
                <a:ln w="12700">
                  <a:solidFill>
                    <a:srgbClr val="097590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5" name="Shape 33"/>
                <p:cNvSpPr/>
                <p:nvPr/>
              </p:nvSpPr>
              <p:spPr>
                <a:xfrm>
                  <a:off x="4727448" y="109728"/>
                  <a:ext cx="221742" cy="54864"/>
                </a:xfrm>
                <a:prstGeom prst="rect">
                  <a:avLst/>
                </a:prstGeom>
                <a:solidFill>
                  <a:srgbClr val="0A6079"/>
                </a:solidFill>
                <a:ln w="12700">
                  <a:solidFill>
                    <a:srgbClr val="0A6079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6" name="Shape 34"/>
                <p:cNvSpPr/>
                <p:nvPr/>
              </p:nvSpPr>
              <p:spPr>
                <a:xfrm>
                  <a:off x="4930902" y="109728"/>
                  <a:ext cx="221742" cy="54864"/>
                </a:xfrm>
                <a:prstGeom prst="rect">
                  <a:avLst/>
                </a:prstGeom>
                <a:solidFill>
                  <a:srgbClr val="0B4A62"/>
                </a:solidFill>
                <a:ln w="12700">
                  <a:solidFill>
                    <a:srgbClr val="0B4A62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7" name="Shape 35"/>
                <p:cNvSpPr/>
                <p:nvPr/>
              </p:nvSpPr>
              <p:spPr>
                <a:xfrm>
                  <a:off x="5134356" y="109728"/>
                  <a:ext cx="221742" cy="54864"/>
                </a:xfrm>
                <a:prstGeom prst="rect">
                  <a:avLst/>
                </a:prstGeom>
                <a:solidFill>
                  <a:srgbClr val="0C354C"/>
                </a:solidFill>
                <a:ln w="12700">
                  <a:solidFill>
                    <a:srgbClr val="0C354C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8" name="Shape 36"/>
                <p:cNvSpPr/>
                <p:nvPr/>
              </p:nvSpPr>
              <p:spPr>
                <a:xfrm>
                  <a:off x="5337810" y="109728"/>
                  <a:ext cx="221742" cy="54864"/>
                </a:xfrm>
                <a:prstGeom prst="rect">
                  <a:avLst/>
                </a:prstGeom>
                <a:solidFill>
                  <a:srgbClr val="0D1F35"/>
                </a:solidFill>
                <a:ln w="12700">
                  <a:solidFill>
                    <a:srgbClr val="0D1F35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39" name="Text 37"/>
              <p:cNvSpPr/>
              <p:nvPr/>
            </p:nvSpPr>
            <p:spPr>
              <a:xfrm>
                <a:off x="3986784" y="201168"/>
                <a:ext cx="1481328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06B6D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49.6</a:t>
                </a:r>
                <a:endParaRPr lang="en-US" sz="2800" dirty="0"/>
              </a:p>
            </p:txBody>
          </p:sp>
          <p:sp>
            <p:nvSpPr>
              <p:cNvPr id="40" name="Text 38"/>
              <p:cNvSpPr/>
              <p:nvPr/>
            </p:nvSpPr>
            <p:spPr>
              <a:xfrm>
                <a:off x="3986784" y="877824"/>
                <a:ext cx="1481328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Mean Score</a:t>
                </a:r>
                <a:endParaRPr lang="en-US" sz="1000" dirty="0"/>
              </a:p>
            </p:txBody>
          </p:sp>
          <p:sp>
            <p:nvSpPr>
              <p:cNvPr id="41" name="Text 39"/>
              <p:cNvSpPr/>
              <p:nvPr/>
            </p:nvSpPr>
            <p:spPr>
              <a:xfrm>
                <a:off x="3986784" y="1115568"/>
                <a:ext cx="1481328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± 16.6 SD</a:t>
                </a:r>
                <a:endParaRPr lang="en-US" sz="900" dirty="0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7F20E27A-E882-5242-17E2-13F35657B7A9}"/>
                </a:ext>
              </a:extLst>
            </p:cNvPr>
            <p:cNvGrpSpPr/>
            <p:nvPr/>
          </p:nvGrpSpPr>
          <p:grpSpPr>
            <a:xfrm>
              <a:off x="5669280" y="109728"/>
              <a:ext cx="1645920" cy="1325880"/>
              <a:chOff x="5669280" y="109728"/>
              <a:chExt cx="1645920" cy="1325880"/>
            </a:xfrm>
          </p:grpSpPr>
          <p:sp>
            <p:nvSpPr>
              <p:cNvPr id="42" name="Shape 40"/>
              <p:cNvSpPr/>
              <p:nvPr/>
            </p:nvSpPr>
            <p:spPr>
              <a:xfrm>
                <a:off x="5669280" y="109728"/>
                <a:ext cx="1627632" cy="1325880"/>
              </a:xfrm>
              <a:prstGeom prst="rect">
                <a:avLst/>
              </a:prstGeom>
              <a:solidFill>
                <a:srgbClr val="0D1F35"/>
              </a:solidFill>
              <a:ln w="6350">
                <a:solidFill>
                  <a:srgbClr val="1E3A5F"/>
                </a:solidFill>
                <a:prstDash val="solid"/>
              </a:ln>
              <a:effectLst>
                <a:outerShdw blurRad="127000" dist="25400" dir="8100000" algn="bl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58288354-D974-9A9C-5E07-4D64F62B74DF}"/>
                  </a:ext>
                </a:extLst>
              </p:cNvPr>
              <p:cNvGrpSpPr/>
              <p:nvPr/>
            </p:nvGrpSpPr>
            <p:grpSpPr>
              <a:xfrm>
                <a:off x="5669280" y="109728"/>
                <a:ext cx="1645920" cy="54864"/>
                <a:chOff x="5669280" y="109728"/>
                <a:chExt cx="1645920" cy="54864"/>
              </a:xfrm>
            </p:grpSpPr>
            <p:sp>
              <p:nvSpPr>
                <p:cNvPr id="43" name="Shape 41"/>
                <p:cNvSpPr/>
                <p:nvPr/>
              </p:nvSpPr>
              <p:spPr>
                <a:xfrm>
                  <a:off x="5669280" y="109728"/>
                  <a:ext cx="221742" cy="54864"/>
                </a:xfrm>
                <a:prstGeom prst="rect">
                  <a:avLst/>
                </a:prstGeom>
                <a:solidFill>
                  <a:srgbClr val="7C3AED"/>
                </a:solidFill>
                <a:ln w="12700">
                  <a:solidFill>
                    <a:srgbClr val="7C3AED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4" name="Shape 42"/>
                <p:cNvSpPr/>
                <p:nvPr/>
              </p:nvSpPr>
              <p:spPr>
                <a:xfrm>
                  <a:off x="5872734" y="109728"/>
                  <a:ext cx="221742" cy="54864"/>
                </a:xfrm>
                <a:prstGeom prst="rect">
                  <a:avLst/>
                </a:prstGeom>
                <a:solidFill>
                  <a:srgbClr val="6C36D3"/>
                </a:solidFill>
                <a:ln w="12700">
                  <a:solidFill>
                    <a:srgbClr val="6C36D3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5" name="Shape 43"/>
                <p:cNvSpPr/>
                <p:nvPr/>
              </p:nvSpPr>
              <p:spPr>
                <a:xfrm>
                  <a:off x="6076188" y="109728"/>
                  <a:ext cx="221742" cy="54864"/>
                </a:xfrm>
                <a:prstGeom prst="rect">
                  <a:avLst/>
                </a:prstGeom>
                <a:solidFill>
                  <a:srgbClr val="5C32B8"/>
                </a:solidFill>
                <a:ln w="12700">
                  <a:solidFill>
                    <a:srgbClr val="5C32B8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6" name="Shape 44"/>
                <p:cNvSpPr/>
                <p:nvPr/>
              </p:nvSpPr>
              <p:spPr>
                <a:xfrm>
                  <a:off x="6279642" y="109728"/>
                  <a:ext cx="221742" cy="54864"/>
                </a:xfrm>
                <a:prstGeom prst="rect">
                  <a:avLst/>
                </a:prstGeom>
                <a:solidFill>
                  <a:srgbClr val="4C2E9E"/>
                </a:solidFill>
                <a:ln w="12700">
                  <a:solidFill>
                    <a:srgbClr val="4C2E9E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7" name="Shape 45"/>
                <p:cNvSpPr/>
                <p:nvPr/>
              </p:nvSpPr>
              <p:spPr>
                <a:xfrm>
                  <a:off x="6483096" y="109728"/>
                  <a:ext cx="221742" cy="54864"/>
                </a:xfrm>
                <a:prstGeom prst="rect">
                  <a:avLst/>
                </a:prstGeom>
                <a:solidFill>
                  <a:srgbClr val="3D2B84"/>
                </a:solidFill>
                <a:ln w="12700">
                  <a:solidFill>
                    <a:srgbClr val="3D2B84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" name="Shape 46"/>
                <p:cNvSpPr/>
                <p:nvPr/>
              </p:nvSpPr>
              <p:spPr>
                <a:xfrm>
                  <a:off x="6686550" y="109728"/>
                  <a:ext cx="221742" cy="54864"/>
                </a:xfrm>
                <a:prstGeom prst="rect">
                  <a:avLst/>
                </a:prstGeom>
                <a:solidFill>
                  <a:srgbClr val="2D276A"/>
                </a:solidFill>
                <a:ln w="12700">
                  <a:solidFill>
                    <a:srgbClr val="2D276A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9" name="Shape 47"/>
                <p:cNvSpPr/>
                <p:nvPr/>
              </p:nvSpPr>
              <p:spPr>
                <a:xfrm>
                  <a:off x="6890004" y="109728"/>
                  <a:ext cx="221742" cy="54864"/>
                </a:xfrm>
                <a:prstGeom prst="rect">
                  <a:avLst/>
                </a:prstGeom>
                <a:solidFill>
                  <a:srgbClr val="1D234F"/>
                </a:solidFill>
                <a:ln w="12700">
                  <a:solidFill>
                    <a:srgbClr val="1D234F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0" name="Shape 48"/>
                <p:cNvSpPr/>
                <p:nvPr/>
              </p:nvSpPr>
              <p:spPr>
                <a:xfrm>
                  <a:off x="7093458" y="109728"/>
                  <a:ext cx="221742" cy="54864"/>
                </a:xfrm>
                <a:prstGeom prst="rect">
                  <a:avLst/>
                </a:prstGeom>
                <a:solidFill>
                  <a:srgbClr val="0D1F35"/>
                </a:solidFill>
                <a:ln w="12700">
                  <a:solidFill>
                    <a:srgbClr val="0D1F35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51" name="Text 49"/>
              <p:cNvSpPr/>
              <p:nvPr/>
            </p:nvSpPr>
            <p:spPr>
              <a:xfrm>
                <a:off x="5742432" y="201168"/>
                <a:ext cx="1481328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7C3AE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[45.3, 53.9]</a:t>
                </a:r>
                <a:endParaRPr lang="en-US" sz="1800" dirty="0"/>
              </a:p>
            </p:txBody>
          </p:sp>
          <p:sp>
            <p:nvSpPr>
              <p:cNvPr id="52" name="Text 50"/>
              <p:cNvSpPr/>
              <p:nvPr/>
            </p:nvSpPr>
            <p:spPr>
              <a:xfrm>
                <a:off x="5742432" y="877824"/>
                <a:ext cx="1481328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95% CI</a:t>
                </a:r>
                <a:endParaRPr lang="en-US" sz="1000" dirty="0"/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96097B1D-D8C0-240E-38C2-216BDEB78F81}"/>
                </a:ext>
              </a:extLst>
            </p:cNvPr>
            <p:cNvGrpSpPr/>
            <p:nvPr/>
          </p:nvGrpSpPr>
          <p:grpSpPr>
            <a:xfrm>
              <a:off x="7424928" y="109728"/>
              <a:ext cx="1645920" cy="1325880"/>
              <a:chOff x="7424928" y="109728"/>
              <a:chExt cx="1645920" cy="1325880"/>
            </a:xfrm>
          </p:grpSpPr>
          <p:sp>
            <p:nvSpPr>
              <p:cNvPr id="53" name="Shape 51"/>
              <p:cNvSpPr/>
              <p:nvPr/>
            </p:nvSpPr>
            <p:spPr>
              <a:xfrm>
                <a:off x="7424928" y="109728"/>
                <a:ext cx="1627632" cy="1325880"/>
              </a:xfrm>
              <a:prstGeom prst="rect">
                <a:avLst/>
              </a:prstGeom>
              <a:solidFill>
                <a:srgbClr val="0D1F35"/>
              </a:solidFill>
              <a:ln w="6350">
                <a:solidFill>
                  <a:srgbClr val="1E3A5F"/>
                </a:solidFill>
                <a:prstDash val="solid"/>
              </a:ln>
              <a:effectLst>
                <a:outerShdw blurRad="127000" dist="25400" dir="8100000" algn="bl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6A39C93-AC7F-D5EF-5EA1-A6C5E46F350C}"/>
                  </a:ext>
                </a:extLst>
              </p:cNvPr>
              <p:cNvGrpSpPr/>
              <p:nvPr/>
            </p:nvGrpSpPr>
            <p:grpSpPr>
              <a:xfrm>
                <a:off x="7424928" y="109728"/>
                <a:ext cx="1645920" cy="54864"/>
                <a:chOff x="7424928" y="109728"/>
                <a:chExt cx="1645920" cy="54864"/>
              </a:xfrm>
            </p:grpSpPr>
            <p:sp>
              <p:nvSpPr>
                <p:cNvPr id="54" name="Shape 52"/>
                <p:cNvSpPr/>
                <p:nvPr/>
              </p:nvSpPr>
              <p:spPr>
                <a:xfrm>
                  <a:off x="7424928" y="109728"/>
                  <a:ext cx="221742" cy="54864"/>
                </a:xfrm>
                <a:prstGeom prst="rect">
                  <a:avLst/>
                </a:prstGeom>
                <a:solidFill>
                  <a:srgbClr val="F59E0B"/>
                </a:solidFill>
                <a:ln w="12700">
                  <a:solidFill>
                    <a:srgbClr val="F59E0B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5" name="Shape 53"/>
                <p:cNvSpPr/>
                <p:nvPr/>
              </p:nvSpPr>
              <p:spPr>
                <a:xfrm>
                  <a:off x="7628382" y="109728"/>
                  <a:ext cx="221742" cy="54864"/>
                </a:xfrm>
                <a:prstGeom prst="rect">
                  <a:avLst/>
                </a:prstGeom>
                <a:solidFill>
                  <a:srgbClr val="D48C11"/>
                </a:solidFill>
                <a:ln w="12700">
                  <a:solidFill>
                    <a:srgbClr val="D48C11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6" name="Shape 54"/>
                <p:cNvSpPr/>
                <p:nvPr/>
              </p:nvSpPr>
              <p:spPr>
                <a:xfrm>
                  <a:off x="7831836" y="109728"/>
                  <a:ext cx="221742" cy="54864"/>
                </a:xfrm>
                <a:prstGeom prst="rect">
                  <a:avLst/>
                </a:prstGeom>
                <a:solidFill>
                  <a:srgbClr val="B37A17"/>
                </a:solidFill>
                <a:ln w="12700">
                  <a:solidFill>
                    <a:srgbClr val="B37A17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7" name="Shape 55"/>
                <p:cNvSpPr/>
                <p:nvPr/>
              </p:nvSpPr>
              <p:spPr>
                <a:xfrm>
                  <a:off x="8035290" y="109728"/>
                  <a:ext cx="221742" cy="54864"/>
                </a:xfrm>
                <a:prstGeom prst="rect">
                  <a:avLst/>
                </a:prstGeom>
                <a:solidFill>
                  <a:srgbClr val="92681D"/>
                </a:solidFill>
                <a:ln w="12700">
                  <a:solidFill>
                    <a:srgbClr val="92681D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8" name="Shape 56"/>
                <p:cNvSpPr/>
                <p:nvPr/>
              </p:nvSpPr>
              <p:spPr>
                <a:xfrm>
                  <a:off x="8238744" y="109728"/>
                  <a:ext cx="221742" cy="54864"/>
                </a:xfrm>
                <a:prstGeom prst="rect">
                  <a:avLst/>
                </a:prstGeom>
                <a:solidFill>
                  <a:srgbClr val="705523"/>
                </a:solidFill>
                <a:ln w="12700">
                  <a:solidFill>
                    <a:srgbClr val="705523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9" name="Shape 57"/>
                <p:cNvSpPr/>
                <p:nvPr/>
              </p:nvSpPr>
              <p:spPr>
                <a:xfrm>
                  <a:off x="8442198" y="109728"/>
                  <a:ext cx="221742" cy="54864"/>
                </a:xfrm>
                <a:prstGeom prst="rect">
                  <a:avLst/>
                </a:prstGeom>
                <a:solidFill>
                  <a:srgbClr val="4F4329"/>
                </a:solidFill>
                <a:ln w="12700">
                  <a:solidFill>
                    <a:srgbClr val="4F4329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0" name="Shape 58"/>
                <p:cNvSpPr/>
                <p:nvPr/>
              </p:nvSpPr>
              <p:spPr>
                <a:xfrm>
                  <a:off x="8645652" y="109728"/>
                  <a:ext cx="221742" cy="54864"/>
                </a:xfrm>
                <a:prstGeom prst="rect">
                  <a:avLst/>
                </a:prstGeom>
                <a:solidFill>
                  <a:srgbClr val="2E312F"/>
                </a:solidFill>
                <a:ln w="12700">
                  <a:solidFill>
                    <a:srgbClr val="2E312F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1" name="Shape 59"/>
                <p:cNvSpPr/>
                <p:nvPr/>
              </p:nvSpPr>
              <p:spPr>
                <a:xfrm>
                  <a:off x="8849106" y="109728"/>
                  <a:ext cx="221742" cy="54864"/>
                </a:xfrm>
                <a:prstGeom prst="rect">
                  <a:avLst/>
                </a:prstGeom>
                <a:solidFill>
                  <a:srgbClr val="0D1F35"/>
                </a:solidFill>
                <a:ln w="12700">
                  <a:solidFill>
                    <a:srgbClr val="0D1F35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62" name="Text 60"/>
              <p:cNvSpPr/>
              <p:nvPr/>
            </p:nvSpPr>
            <p:spPr>
              <a:xfrm>
                <a:off x="7498080" y="201168"/>
                <a:ext cx="1481328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F59E0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15.5%</a:t>
                </a:r>
                <a:endParaRPr lang="en-US" sz="2800" dirty="0"/>
              </a:p>
            </p:txBody>
          </p:sp>
          <p:sp>
            <p:nvSpPr>
              <p:cNvPr id="63" name="Text 61"/>
              <p:cNvSpPr/>
              <p:nvPr/>
            </p:nvSpPr>
            <p:spPr>
              <a:xfrm>
                <a:off x="7498080" y="877824"/>
                <a:ext cx="1481328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JD Traceability</a:t>
                </a:r>
                <a:endParaRPr lang="en-US" sz="1000" dirty="0"/>
              </a:p>
            </p:txBody>
          </p:sp>
          <p:sp>
            <p:nvSpPr>
              <p:cNvPr id="64" name="Text 62"/>
              <p:cNvSpPr/>
              <p:nvPr/>
            </p:nvSpPr>
            <p:spPr>
              <a:xfrm>
                <a:off x="7498080" y="1115568"/>
                <a:ext cx="1481328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9 of 58</a:t>
                </a:r>
                <a:endParaRPr lang="en-US" sz="900" dirty="0"/>
              </a:p>
            </p:txBody>
          </p:sp>
        </p:grp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B6C9B30-37CA-47B8-2C30-457E633E9097}"/>
              </a:ext>
            </a:extLst>
          </p:cNvPr>
          <p:cNvGrpSpPr/>
          <p:nvPr/>
        </p:nvGrpSpPr>
        <p:grpSpPr>
          <a:xfrm>
            <a:off x="3913632" y="1712040"/>
            <a:ext cx="4919472" cy="1828800"/>
            <a:chOff x="3913632" y="1627632"/>
            <a:chExt cx="4919472" cy="1828800"/>
          </a:xfrm>
        </p:grpSpPr>
        <p:sp>
          <p:nvSpPr>
            <p:cNvPr id="65" name="Shape 63"/>
            <p:cNvSpPr/>
            <p:nvPr/>
          </p:nvSpPr>
          <p:spPr>
            <a:xfrm>
              <a:off x="3913632" y="1627632"/>
              <a:ext cx="4919472" cy="1828800"/>
            </a:xfrm>
            <a:prstGeom prst="rect">
              <a:avLst/>
            </a:prstGeom>
            <a:solidFill>
              <a:srgbClr val="0D1F35"/>
            </a:solidFill>
            <a:ln w="6350">
              <a:solidFill>
                <a:srgbClr val="1E3A5F"/>
              </a:solidFill>
              <a:prstDash val="solid"/>
            </a:ln>
            <a:effectLst>
              <a:outerShdw blurRad="127000" dist="25400" dir="8100000" algn="bl" rotWithShape="0">
                <a:srgbClr val="000000">
                  <a:alpha val="2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66" name="Text 64"/>
            <p:cNvSpPr/>
            <p:nvPr/>
          </p:nvSpPr>
          <p:spPr>
            <a:xfrm>
              <a:off x="4059936" y="1719072"/>
              <a:ext cx="462686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Score by Source</a:t>
              </a:r>
              <a:endParaRPr lang="en-US" sz="120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4059936" y="2103120"/>
              <a:ext cx="138988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Practice (n=25)</a:t>
              </a:r>
              <a:endParaRPr lang="en-US" sz="105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8460486" y="2103120"/>
              <a:ext cx="37261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58.4</a:t>
              </a:r>
              <a:endParaRPr lang="en-US" sz="1050" dirty="0"/>
            </a:p>
          </p:txBody>
        </p:sp>
        <p:sp>
          <p:nvSpPr>
            <p:cNvPr id="71" name="Text 69"/>
            <p:cNvSpPr/>
            <p:nvPr/>
          </p:nvSpPr>
          <p:spPr>
            <a:xfrm>
              <a:off x="4059936" y="2532888"/>
              <a:ext cx="138988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JD Mode (n=9)</a:t>
              </a:r>
              <a:endParaRPr lang="en-US" sz="1050" dirty="0"/>
            </a:p>
          </p:txBody>
        </p:sp>
        <p:sp>
          <p:nvSpPr>
            <p:cNvPr id="74" name="Text 72"/>
            <p:cNvSpPr/>
            <p:nvPr/>
          </p:nvSpPr>
          <p:spPr>
            <a:xfrm>
              <a:off x="8460486" y="2532888"/>
              <a:ext cx="37261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45.4</a:t>
              </a:r>
              <a:endParaRPr lang="en-US" sz="105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4059936" y="2962656"/>
              <a:ext cx="138988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Live (n=24)</a:t>
              </a:r>
              <a:endParaRPr lang="en-US" sz="1050" dirty="0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CB0EAF60-6862-FE77-633A-401D743AA600}"/>
                </a:ext>
              </a:extLst>
            </p:cNvPr>
            <p:cNvGrpSpPr/>
            <p:nvPr/>
          </p:nvGrpSpPr>
          <p:grpSpPr>
            <a:xfrm>
              <a:off x="5235992" y="2139696"/>
              <a:ext cx="3127248" cy="1078992"/>
              <a:chOff x="5468112" y="2139696"/>
              <a:chExt cx="3127248" cy="1078992"/>
            </a:xfrm>
          </p:grpSpPr>
          <p:sp>
            <p:nvSpPr>
              <p:cNvPr id="68" name="Shape 66"/>
              <p:cNvSpPr/>
              <p:nvPr/>
            </p:nvSpPr>
            <p:spPr>
              <a:xfrm>
                <a:off x="5468112" y="2139696"/>
                <a:ext cx="3127248" cy="219456"/>
              </a:xfrm>
              <a:prstGeom prst="rect">
                <a:avLst/>
              </a:prstGeom>
              <a:solidFill>
                <a:srgbClr val="1A3050"/>
              </a:solidFill>
              <a:ln w="12700">
                <a:solidFill>
                  <a:srgbClr val="1A305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9" name="Shape 67"/>
              <p:cNvSpPr/>
              <p:nvPr/>
            </p:nvSpPr>
            <p:spPr>
              <a:xfrm>
                <a:off x="5468112" y="2139696"/>
                <a:ext cx="1826313" cy="219456"/>
              </a:xfrm>
              <a:prstGeom prst="rect">
                <a:avLst/>
              </a:prstGeom>
              <a:solidFill>
                <a:srgbClr val="10B981"/>
              </a:solidFill>
              <a:ln w="12700">
                <a:solidFill>
                  <a:srgbClr val="10B981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2" name="Shape 70"/>
              <p:cNvSpPr/>
              <p:nvPr/>
            </p:nvSpPr>
            <p:spPr>
              <a:xfrm>
                <a:off x="5468112" y="2569464"/>
                <a:ext cx="3127248" cy="219456"/>
              </a:xfrm>
              <a:prstGeom prst="rect">
                <a:avLst/>
              </a:prstGeom>
              <a:solidFill>
                <a:srgbClr val="1A3050"/>
              </a:solidFill>
              <a:ln w="12700">
                <a:solidFill>
                  <a:srgbClr val="1A305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3" name="Shape 71"/>
              <p:cNvSpPr/>
              <p:nvPr/>
            </p:nvSpPr>
            <p:spPr>
              <a:xfrm>
                <a:off x="5468112" y="2569464"/>
                <a:ext cx="1419771" cy="219456"/>
              </a:xfrm>
              <a:prstGeom prst="rect">
                <a:avLst/>
              </a:prstGeom>
              <a:solidFill>
                <a:srgbClr val="7C3AED"/>
              </a:solidFill>
              <a:ln w="12700">
                <a:solidFill>
                  <a:srgbClr val="7C3AED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6" name="Shape 74"/>
              <p:cNvSpPr/>
              <p:nvPr/>
            </p:nvSpPr>
            <p:spPr>
              <a:xfrm>
                <a:off x="5468112" y="2999232"/>
                <a:ext cx="3127248" cy="219456"/>
              </a:xfrm>
              <a:prstGeom prst="rect">
                <a:avLst/>
              </a:prstGeom>
              <a:solidFill>
                <a:srgbClr val="1A3050"/>
              </a:solidFill>
              <a:ln w="12700">
                <a:solidFill>
                  <a:srgbClr val="1A305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7" name="Shape 75"/>
              <p:cNvSpPr/>
              <p:nvPr/>
            </p:nvSpPr>
            <p:spPr>
              <a:xfrm>
                <a:off x="5468112" y="2999232"/>
                <a:ext cx="1313444" cy="219456"/>
              </a:xfrm>
              <a:prstGeom prst="rect">
                <a:avLst/>
              </a:prstGeom>
              <a:solidFill>
                <a:srgbClr val="06B6D4"/>
              </a:solidFill>
              <a:ln w="12700">
                <a:solidFill>
                  <a:srgbClr val="06B6D4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78" name="Text 76"/>
            <p:cNvSpPr/>
            <p:nvPr/>
          </p:nvSpPr>
          <p:spPr>
            <a:xfrm>
              <a:off x="8460486" y="2962656"/>
              <a:ext cx="37261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6B6D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42</a:t>
              </a:r>
              <a:endParaRPr lang="en-US" sz="1050" dirty="0"/>
            </a:p>
          </p:txBody>
        </p:sp>
      </p:grpSp>
      <p:sp>
        <p:nvSpPr>
          <p:cNvPr id="79" name="Shape 77"/>
          <p:cNvSpPr/>
          <p:nvPr/>
        </p:nvSpPr>
        <p:spPr>
          <a:xfrm>
            <a:off x="3913632" y="3648456"/>
            <a:ext cx="4919472" cy="1472184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4059936" y="3675888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Content Metrics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4059936" y="406908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Diversity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4059936" y="427024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 ± 9.6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455664" y="406908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Score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6455664" y="427024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40.8 ± 19.6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4059936" y="457200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Terms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4059936" y="47731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± 6.7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6455664" y="457200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Method Score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6455664" y="47731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 ± 25.9</a:t>
            </a:r>
            <a:endParaRPr lang="en-US" sz="1200" dirty="0"/>
          </a:p>
        </p:txBody>
      </p:sp>
      <p:sp>
        <p:nvSpPr>
          <p:cNvPr id="89" name="Shape 0">
            <a:extLst>
              <a:ext uri="{FF2B5EF4-FFF2-40B4-BE49-F238E27FC236}">
                <a16:creationId xmlns:a16="http://schemas.microsoft.com/office/drawing/2014/main" id="{50D26ABC-7EE2-31F0-0405-7E8FECC3C42C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1">
            <a:extLst>
              <a:ext uri="{FF2B5EF4-FFF2-40B4-BE49-F238E27FC236}">
                <a16:creationId xmlns:a16="http://schemas.microsoft.com/office/drawing/2014/main" id="{2A1614E3-72A1-730C-1B16-FC67DCB25BB5}"/>
              </a:ext>
            </a:extLst>
          </p:cNvPr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07408" cy="5143500"/>
          </a:xfrm>
          <a:prstGeom prst="rect">
            <a:avLst/>
          </a:prstGeom>
          <a:solidFill>
            <a:srgbClr val="080E1E"/>
          </a:solidFill>
          <a:ln w="12700">
            <a:solidFill>
              <a:srgbClr val="080E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407408" y="0"/>
            <a:ext cx="29718" cy="51435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418838" y="0"/>
            <a:ext cx="29718" cy="5143500"/>
          </a:xfrm>
          <a:prstGeom prst="rect">
            <a:avLst/>
          </a:prstGeom>
          <a:solidFill>
            <a:srgbClr val="D23854"/>
          </a:solidFill>
          <a:ln w="12700">
            <a:solidFill>
              <a:srgbClr val="D238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30268" y="0"/>
            <a:ext cx="29718" cy="5143500"/>
          </a:xfrm>
          <a:prstGeom prst="rect">
            <a:avLst/>
          </a:prstGeom>
          <a:solidFill>
            <a:srgbClr val="B0304B"/>
          </a:solidFill>
          <a:ln w="12700">
            <a:solidFill>
              <a:srgbClr val="B030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441698" y="0"/>
            <a:ext cx="29718" cy="5143500"/>
          </a:xfrm>
          <a:prstGeom prst="rect">
            <a:avLst/>
          </a:prstGeom>
          <a:solidFill>
            <a:srgbClr val="8E2941"/>
          </a:solidFill>
          <a:ln w="12700">
            <a:solidFill>
              <a:srgbClr val="8E29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453128" y="0"/>
            <a:ext cx="29718" cy="5143500"/>
          </a:xfrm>
          <a:prstGeom prst="rect">
            <a:avLst/>
          </a:prstGeom>
          <a:solidFill>
            <a:srgbClr val="6B2237"/>
          </a:solidFill>
          <a:ln w="12700">
            <a:solidFill>
              <a:srgbClr val="6B2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464558" y="0"/>
            <a:ext cx="29718" cy="5143500"/>
          </a:xfrm>
          <a:prstGeom prst="rect">
            <a:avLst/>
          </a:prstGeom>
          <a:solidFill>
            <a:srgbClr val="491B2D"/>
          </a:solidFill>
          <a:ln w="12700">
            <a:solidFill>
              <a:srgbClr val="49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475988" y="0"/>
            <a:ext cx="29718" cy="5143500"/>
          </a:xfrm>
          <a:prstGeom prst="rect">
            <a:avLst/>
          </a:prstGeom>
          <a:solidFill>
            <a:srgbClr val="271324"/>
          </a:solidFill>
          <a:ln w="12700">
            <a:solidFill>
              <a:srgbClr val="2713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87418" y="0"/>
            <a:ext cx="29718" cy="5143500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25603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20040" y="969264"/>
            <a:ext cx="304038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5790" y="969264"/>
            <a:ext cx="304038" cy="54864"/>
          </a:xfrm>
          <a:prstGeom prst="rect">
            <a:avLst/>
          </a:prstGeom>
          <a:solidFill>
            <a:srgbClr val="D23855"/>
          </a:solidFill>
          <a:ln w="12700">
            <a:solidFill>
              <a:srgbClr val="D238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91540" y="969264"/>
            <a:ext cx="304038" cy="54864"/>
          </a:xfrm>
          <a:prstGeom prst="rect">
            <a:avLst/>
          </a:prstGeom>
          <a:solidFill>
            <a:srgbClr val="B1314C"/>
          </a:solidFill>
          <a:ln w="12700">
            <a:solidFill>
              <a:srgbClr val="B131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177290" y="969264"/>
            <a:ext cx="304038" cy="54864"/>
          </a:xfrm>
          <a:prstGeom prst="rect">
            <a:avLst/>
          </a:prstGeom>
          <a:solidFill>
            <a:srgbClr val="8F2A43"/>
          </a:solidFill>
          <a:ln w="12700">
            <a:solidFill>
              <a:srgbClr val="8F2A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463040" y="969264"/>
            <a:ext cx="304038" cy="54864"/>
          </a:xfrm>
          <a:prstGeom prst="rect">
            <a:avLst/>
          </a:prstGeom>
          <a:solidFill>
            <a:srgbClr val="6D2339"/>
          </a:solidFill>
          <a:ln w="12700">
            <a:solidFill>
              <a:srgbClr val="6D23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748790" y="969264"/>
            <a:ext cx="304038" cy="54864"/>
          </a:xfrm>
          <a:prstGeom prst="rect">
            <a:avLst/>
          </a:prstGeom>
          <a:solidFill>
            <a:srgbClr val="4B1C30"/>
          </a:solidFill>
          <a:ln w="12700">
            <a:solidFill>
              <a:srgbClr val="4B1C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034540" y="969264"/>
            <a:ext cx="304038" cy="54864"/>
          </a:xfrm>
          <a:prstGeom prst="rect">
            <a:avLst/>
          </a:prstGeom>
          <a:solidFill>
            <a:srgbClr val="2A1527"/>
          </a:solidFill>
          <a:ln w="12700">
            <a:solidFill>
              <a:srgbClr val="2A15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320290" y="969264"/>
            <a:ext cx="304038" cy="54864"/>
          </a:xfrm>
          <a:prstGeom prst="rect">
            <a:avLst/>
          </a:prstGeom>
          <a:solidFill>
            <a:srgbClr val="080E1E"/>
          </a:solidFill>
          <a:ln w="12700">
            <a:solidFill>
              <a:srgbClr val="080E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1152144"/>
            <a:ext cx="3858768" cy="65836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1152144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12070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Contextual Understanding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</a:rPr>
              <a:t>The system lacks the nuanced human ability to interpret organizational culture and specific role-based soft skills.</a:t>
            </a:r>
          </a:p>
        </p:txBody>
      </p:sp>
      <p:sp>
        <p:nvSpPr>
          <p:cNvPr id="24" name="Shape 22"/>
          <p:cNvSpPr/>
          <p:nvPr/>
        </p:nvSpPr>
        <p:spPr>
          <a:xfrm>
            <a:off x="320040" y="1920240"/>
            <a:ext cx="3858768" cy="65836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0040" y="1920240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1975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Adaptive Learning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</a:rPr>
              <a:t>The architecture does not currently support dynamic model updates or personalization based on ongoing user performance.</a:t>
            </a:r>
          </a:p>
        </p:txBody>
      </p:sp>
      <p:sp>
        <p:nvSpPr>
          <p:cNvPr id="28" name="Shape 26"/>
          <p:cNvSpPr/>
          <p:nvPr/>
        </p:nvSpPr>
        <p:spPr>
          <a:xfrm>
            <a:off x="320040" y="2688336"/>
            <a:ext cx="3858768" cy="65836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0040" y="2688336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7200" y="2743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Constraints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30175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</a:rPr>
              <a:t>Concurrent user load may lead to increased latency and significant API inference costs for large-scale deployments.</a:t>
            </a:r>
          </a:p>
        </p:txBody>
      </p:sp>
      <p:sp>
        <p:nvSpPr>
          <p:cNvPr id="32" name="Shape 30"/>
          <p:cNvSpPr/>
          <p:nvPr/>
        </p:nvSpPr>
        <p:spPr>
          <a:xfrm>
            <a:off x="320040" y="3456432"/>
            <a:ext cx="3858768" cy="65836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20040" y="3456432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7200" y="3511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fairness / bias audit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37856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</a:rPr>
              <a:t>The reliance on pre-trained LLMs may introduce latent biases that have not yet been empirically measured or mitigated.</a:t>
            </a:r>
          </a:p>
        </p:txBody>
      </p:sp>
      <p:sp>
        <p:nvSpPr>
          <p:cNvPr id="36" name="Shape 34"/>
          <p:cNvSpPr/>
          <p:nvPr/>
        </p:nvSpPr>
        <p:spPr>
          <a:xfrm>
            <a:off x="320040" y="4224528"/>
            <a:ext cx="3858768" cy="65836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20040" y="4224528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7200" y="4279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Internet and External APIs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45537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</a:rPr>
              <a:t>The absence of a robust authentication layer and advanced encryption presents potential risks to sensitive candidate PII.</a:t>
            </a:r>
          </a:p>
        </p:txBody>
      </p:sp>
      <p:sp>
        <p:nvSpPr>
          <p:cNvPr id="40" name="Text 38"/>
          <p:cNvSpPr/>
          <p:nvPr/>
        </p:nvSpPr>
        <p:spPr>
          <a:xfrm>
            <a:off x="4754880" y="25603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1" name="Shape 39"/>
          <p:cNvSpPr/>
          <p:nvPr/>
        </p:nvSpPr>
        <p:spPr>
          <a:xfrm>
            <a:off x="4754880" y="969264"/>
            <a:ext cx="30403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5040630" y="969264"/>
            <a:ext cx="304038" cy="54864"/>
          </a:xfrm>
          <a:prstGeom prst="rect">
            <a:avLst/>
          </a:prstGeom>
          <a:solidFill>
            <a:srgbClr val="0EA072"/>
          </a:solidFill>
          <a:ln w="12700">
            <a:solidFill>
              <a:srgbClr val="0EA0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326380" y="969264"/>
            <a:ext cx="304038" cy="54864"/>
          </a:xfrm>
          <a:prstGeom prst="rect">
            <a:avLst/>
          </a:prstGeom>
          <a:solidFill>
            <a:srgbClr val="0D8864"/>
          </a:solidFill>
          <a:ln w="12700">
            <a:solidFill>
              <a:srgbClr val="0D8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612130" y="969264"/>
            <a:ext cx="304038" cy="54864"/>
          </a:xfrm>
          <a:prstGeom prst="rect">
            <a:avLst/>
          </a:prstGeom>
          <a:solidFill>
            <a:srgbClr val="0B6F55"/>
          </a:solidFill>
          <a:ln w="12700">
            <a:solidFill>
              <a:srgbClr val="0B6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5897880" y="969264"/>
            <a:ext cx="304038" cy="54864"/>
          </a:xfrm>
          <a:prstGeom prst="rect">
            <a:avLst/>
          </a:prstGeom>
          <a:solidFill>
            <a:srgbClr val="0A5646"/>
          </a:solidFill>
          <a:ln w="12700">
            <a:solidFill>
              <a:srgbClr val="0A56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183630" y="969264"/>
            <a:ext cx="304038" cy="54864"/>
          </a:xfrm>
          <a:prstGeom prst="rect">
            <a:avLst/>
          </a:prstGeom>
          <a:solidFill>
            <a:srgbClr val="083D37"/>
          </a:solidFill>
          <a:ln w="12700">
            <a:solidFill>
              <a:srgbClr val="083D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469380" y="969264"/>
            <a:ext cx="304038" cy="54864"/>
          </a:xfrm>
          <a:prstGeom prst="rect">
            <a:avLst/>
          </a:prstGeom>
          <a:solidFill>
            <a:srgbClr val="072529"/>
          </a:solidFill>
          <a:ln w="12700">
            <a:solidFill>
              <a:srgbClr val="0725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755130" y="969264"/>
            <a:ext cx="304038" cy="54864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754880" y="1152144"/>
            <a:ext cx="4069080" cy="65836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54880" y="1152144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892040" y="12070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Security &amp; Identity Assurance Framework (Login Page)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4892040" y="14813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</a:rPr>
              <a:t>Implement OAuth 2.0 and JWT-based authentication to ensure secure, role-based access to sensitive user documents.</a:t>
            </a:r>
          </a:p>
        </p:txBody>
      </p:sp>
      <p:sp>
        <p:nvSpPr>
          <p:cNvPr id="53" name="Shape 51"/>
          <p:cNvSpPr/>
          <p:nvPr/>
        </p:nvSpPr>
        <p:spPr>
          <a:xfrm>
            <a:off x="4754880" y="1920240"/>
            <a:ext cx="4069080" cy="65836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754880" y="192024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892040" y="19751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Personalization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892040" y="224942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</a:rPr>
              <a:t>Develop adaptive difficulty algorithms that adjust interview complexity based on the candidate's real-time responses.</a:t>
            </a:r>
          </a:p>
        </p:txBody>
      </p:sp>
      <p:sp>
        <p:nvSpPr>
          <p:cNvPr id="57" name="Shape 55"/>
          <p:cNvSpPr/>
          <p:nvPr/>
        </p:nvSpPr>
        <p:spPr>
          <a:xfrm>
            <a:off x="4754880" y="2688336"/>
            <a:ext cx="4069080" cy="65836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754880" y="2688336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892040" y="27432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Learning from User Interaction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4892040" y="30175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</a:rPr>
              <a:t>Integrate feedback loops to allow the system to refine its evaluation accuracy through continuous human-in-the-loop validation.</a:t>
            </a:r>
          </a:p>
        </p:txBody>
      </p:sp>
      <p:sp>
        <p:nvSpPr>
          <p:cNvPr id="61" name="Shape 59"/>
          <p:cNvSpPr/>
          <p:nvPr/>
        </p:nvSpPr>
        <p:spPr>
          <a:xfrm>
            <a:off x="4754880" y="3456432"/>
            <a:ext cx="4069080" cy="65836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754880" y="3456432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892040" y="35112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Interview Simulation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4892040" y="378561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</a:rPr>
              <a:t>Incorporate speech-to-text and NLP-based vocal analysis to simulate a more realistic and immersive interview environment.</a:t>
            </a:r>
          </a:p>
        </p:txBody>
      </p:sp>
      <p:sp>
        <p:nvSpPr>
          <p:cNvPr id="65" name="Shape 63"/>
          <p:cNvSpPr/>
          <p:nvPr/>
        </p:nvSpPr>
        <p:spPr>
          <a:xfrm>
            <a:off x="4754880" y="4224528"/>
            <a:ext cx="4069080" cy="658368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4754880" y="4224528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892040" y="42793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Live Job Data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4892040" y="455371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</a:rPr>
              <a:t>Utilize API hooks to fetch real-time industry requirements from platforms like LinkedIn to ensure question relevance.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61288" cy="5143500"/>
          </a:xfrm>
          <a:prstGeom prst="rect">
            <a:avLst/>
          </a:prstGeom>
          <a:solidFill>
            <a:srgbClr val="06123A"/>
          </a:solidFill>
          <a:ln w="12700">
            <a:solidFill>
              <a:srgbClr val="0612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0"/>
            <a:ext cx="1161288" cy="5143500"/>
          </a:xfrm>
          <a:prstGeom prst="rect">
            <a:avLst/>
          </a:prstGeom>
          <a:solidFill>
            <a:srgbClr val="061135"/>
          </a:solidFill>
          <a:ln w="12700">
            <a:solidFill>
              <a:srgbClr val="0611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0"/>
            <a:ext cx="1161288" cy="5143500"/>
          </a:xfrm>
          <a:prstGeom prst="rect">
            <a:avLst/>
          </a:prstGeom>
          <a:solidFill>
            <a:srgbClr val="061031"/>
          </a:solidFill>
          <a:ln w="12700">
            <a:solidFill>
              <a:srgbClr val="0610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0"/>
            <a:ext cx="1161288" cy="5143500"/>
          </a:xfrm>
          <a:prstGeom prst="rect">
            <a:avLst/>
          </a:prstGeom>
          <a:solidFill>
            <a:srgbClr val="060F2C"/>
          </a:solidFill>
          <a:ln w="12700">
            <a:solidFill>
              <a:srgbClr val="060F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1161288" cy="5143500"/>
          </a:xfrm>
          <a:prstGeom prst="rect">
            <a:avLst/>
          </a:prstGeom>
          <a:solidFill>
            <a:srgbClr val="050F28"/>
          </a:solidFill>
          <a:ln w="12700">
            <a:solidFill>
              <a:srgbClr val="050F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0"/>
            <a:ext cx="1161288" cy="5143500"/>
          </a:xfrm>
          <a:prstGeom prst="rect">
            <a:avLst/>
          </a:prstGeom>
          <a:solidFill>
            <a:srgbClr val="050E23"/>
          </a:solidFill>
          <a:ln w="12700">
            <a:solidFill>
              <a:srgbClr val="050E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0"/>
            <a:ext cx="1161288" cy="5143500"/>
          </a:xfrm>
          <a:prstGeom prst="rect">
            <a:avLst/>
          </a:prstGeom>
          <a:solidFill>
            <a:srgbClr val="050D1F"/>
          </a:solidFill>
          <a:ln w="12700">
            <a:solidFill>
              <a:srgbClr val="050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0"/>
            <a:ext cx="1161288" cy="5143500"/>
          </a:xfrm>
          <a:prstGeom prst="rect">
            <a:avLst/>
          </a:prstGeom>
          <a:solidFill>
            <a:srgbClr val="050C1A"/>
          </a:solidFill>
          <a:ln w="12700">
            <a:solidFill>
              <a:srgbClr val="050C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0" y="1097280"/>
            <a:ext cx="9162288" cy="2286000"/>
          </a:xfrm>
          <a:prstGeom prst="ellipse">
            <a:avLst/>
          </a:prstGeom>
          <a:solidFill>
            <a:srgbClr val="0D1F40"/>
          </a:solidFill>
          <a:ln w="12700">
            <a:solidFill>
              <a:srgbClr val="0D1F40"/>
            </a:solidFill>
            <a:prstDash val="solid"/>
          </a:ln>
          <a:effectLst>
            <a:softEdge rad="127000"/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116128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43000" y="0"/>
            <a:ext cx="1161288" cy="54864"/>
          </a:xfrm>
          <a:prstGeom prst="rect">
            <a:avLst/>
          </a:prstGeom>
          <a:solidFill>
            <a:srgbClr val="6B4CE9"/>
          </a:solidFill>
          <a:ln w="12700">
            <a:solidFill>
              <a:srgbClr val="6B4C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286000" y="0"/>
            <a:ext cx="1161288" cy="54864"/>
          </a:xfrm>
          <a:prstGeom prst="rect">
            <a:avLst/>
          </a:prstGeom>
          <a:solidFill>
            <a:srgbClr val="5A5DE6"/>
          </a:solidFill>
          <a:ln w="12700">
            <a:solidFill>
              <a:srgbClr val="5A5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429000" y="0"/>
            <a:ext cx="1161288" cy="54864"/>
          </a:xfrm>
          <a:prstGeom prst="rect">
            <a:avLst/>
          </a:prstGeom>
          <a:solidFill>
            <a:srgbClr val="496FE2"/>
          </a:solidFill>
          <a:ln w="12700">
            <a:solidFill>
              <a:srgbClr val="496F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0" y="0"/>
            <a:ext cx="1161288" cy="54864"/>
          </a:xfrm>
          <a:prstGeom prst="rect">
            <a:avLst/>
          </a:prstGeom>
          <a:solidFill>
            <a:srgbClr val="3981DF"/>
          </a:solidFill>
          <a:ln w="12700">
            <a:solidFill>
              <a:srgbClr val="3981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715000" y="0"/>
            <a:ext cx="1161288" cy="54864"/>
          </a:xfrm>
          <a:prstGeom prst="rect">
            <a:avLst/>
          </a:prstGeom>
          <a:solidFill>
            <a:srgbClr val="2893DB"/>
          </a:solidFill>
          <a:ln w="12700">
            <a:solidFill>
              <a:srgbClr val="2893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1161288" cy="54864"/>
          </a:xfrm>
          <a:prstGeom prst="rect">
            <a:avLst/>
          </a:prstGeom>
          <a:solidFill>
            <a:srgbClr val="17A4D8"/>
          </a:solidFill>
          <a:ln w="12700">
            <a:solidFill>
              <a:srgbClr val="17A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001000" y="0"/>
            <a:ext cx="1161288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0" y="5088636"/>
            <a:ext cx="1161288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143000" y="5088636"/>
            <a:ext cx="1161288" cy="54864"/>
          </a:xfrm>
          <a:prstGeom prst="rect">
            <a:avLst/>
          </a:prstGeom>
          <a:solidFill>
            <a:srgbClr val="17A4D8"/>
          </a:solidFill>
          <a:ln w="12700">
            <a:solidFill>
              <a:srgbClr val="17A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286000" y="5088636"/>
            <a:ext cx="1161288" cy="54864"/>
          </a:xfrm>
          <a:prstGeom prst="rect">
            <a:avLst/>
          </a:prstGeom>
          <a:solidFill>
            <a:srgbClr val="2893DB"/>
          </a:solidFill>
          <a:ln w="12700">
            <a:solidFill>
              <a:srgbClr val="2893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429000" y="5088636"/>
            <a:ext cx="1161288" cy="54864"/>
          </a:xfrm>
          <a:prstGeom prst="rect">
            <a:avLst/>
          </a:prstGeom>
          <a:solidFill>
            <a:srgbClr val="3981DF"/>
          </a:solidFill>
          <a:ln w="12700">
            <a:solidFill>
              <a:srgbClr val="3981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572000" y="5088636"/>
            <a:ext cx="1161288" cy="54864"/>
          </a:xfrm>
          <a:prstGeom prst="rect">
            <a:avLst/>
          </a:prstGeom>
          <a:solidFill>
            <a:srgbClr val="496FE2"/>
          </a:solidFill>
          <a:ln w="12700">
            <a:solidFill>
              <a:srgbClr val="496F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715000" y="5088636"/>
            <a:ext cx="1161288" cy="54864"/>
          </a:xfrm>
          <a:prstGeom prst="rect">
            <a:avLst/>
          </a:prstGeom>
          <a:solidFill>
            <a:srgbClr val="5A5DE6"/>
          </a:solidFill>
          <a:ln w="12700">
            <a:solidFill>
              <a:srgbClr val="5A5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858000" y="5088636"/>
            <a:ext cx="1161288" cy="54864"/>
          </a:xfrm>
          <a:prstGeom prst="rect">
            <a:avLst/>
          </a:prstGeom>
          <a:solidFill>
            <a:srgbClr val="6B4CE9"/>
          </a:solidFill>
          <a:ln w="12700">
            <a:solidFill>
              <a:srgbClr val="6B4C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001000" y="5088636"/>
            <a:ext cx="116128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457200" y="749808"/>
            <a:ext cx="41833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57250" y="749808"/>
            <a:ext cx="418338" cy="54864"/>
          </a:xfrm>
          <a:prstGeom prst="rect">
            <a:avLst/>
          </a:prstGeom>
          <a:solidFill>
            <a:srgbClr val="E4902B"/>
          </a:solidFill>
          <a:ln w="12700">
            <a:solidFill>
              <a:srgbClr val="E490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257300" y="749808"/>
            <a:ext cx="418338" cy="54864"/>
          </a:xfrm>
          <a:prstGeom prst="rect">
            <a:avLst/>
          </a:prstGeom>
          <a:solidFill>
            <a:srgbClr val="D2814C"/>
          </a:solidFill>
          <a:ln w="12700">
            <a:solidFill>
              <a:srgbClr val="D281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657350" y="749808"/>
            <a:ext cx="418338" cy="54864"/>
          </a:xfrm>
          <a:prstGeom prst="rect">
            <a:avLst/>
          </a:prstGeom>
          <a:solidFill>
            <a:srgbClr val="C1736C"/>
          </a:solidFill>
          <a:ln w="12700">
            <a:solidFill>
              <a:srgbClr val="C173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057400" y="749808"/>
            <a:ext cx="418338" cy="54864"/>
          </a:xfrm>
          <a:prstGeom prst="rect">
            <a:avLst/>
          </a:prstGeom>
          <a:solidFill>
            <a:srgbClr val="B0658C"/>
          </a:solidFill>
          <a:ln w="12700">
            <a:solidFill>
              <a:srgbClr val="B065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457450" y="749808"/>
            <a:ext cx="418338" cy="54864"/>
          </a:xfrm>
          <a:prstGeom prst="rect">
            <a:avLst/>
          </a:prstGeom>
          <a:solidFill>
            <a:srgbClr val="9F57AC"/>
          </a:solidFill>
          <a:ln w="12700">
            <a:solidFill>
              <a:srgbClr val="9F57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857500" y="749808"/>
            <a:ext cx="418338" cy="54864"/>
          </a:xfrm>
          <a:prstGeom prst="rect">
            <a:avLst/>
          </a:prstGeom>
          <a:solidFill>
            <a:srgbClr val="8D48CD"/>
          </a:solidFill>
          <a:ln w="12700">
            <a:solidFill>
              <a:srgbClr val="8D48C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257550" y="749808"/>
            <a:ext cx="41833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84048" y="987552"/>
            <a:ext cx="4114800" cy="1143000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84048" y="987552"/>
            <a:ext cx="53263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98398" y="987552"/>
            <a:ext cx="532638" cy="54864"/>
          </a:xfrm>
          <a:prstGeom prst="rect">
            <a:avLst/>
          </a:prstGeom>
          <a:solidFill>
            <a:srgbClr val="6C36D3"/>
          </a:solidFill>
          <a:ln w="12700">
            <a:solidFill>
              <a:srgbClr val="6C3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412748" y="987552"/>
            <a:ext cx="532638" cy="54864"/>
          </a:xfrm>
          <a:prstGeom prst="rect">
            <a:avLst/>
          </a:prstGeom>
          <a:solidFill>
            <a:srgbClr val="5C32B8"/>
          </a:solidFill>
          <a:ln w="12700">
            <a:solidFill>
              <a:srgbClr val="5C32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927098" y="987552"/>
            <a:ext cx="532638" cy="54864"/>
          </a:xfrm>
          <a:prstGeom prst="rect">
            <a:avLst/>
          </a:prstGeom>
          <a:solidFill>
            <a:srgbClr val="4C2E9E"/>
          </a:solidFill>
          <a:ln w="12700">
            <a:solidFill>
              <a:srgbClr val="4C2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2441448" y="987552"/>
            <a:ext cx="532638" cy="54864"/>
          </a:xfrm>
          <a:prstGeom prst="rect">
            <a:avLst/>
          </a:prstGeom>
          <a:solidFill>
            <a:srgbClr val="3D2B84"/>
          </a:solidFill>
          <a:ln w="12700">
            <a:solidFill>
              <a:srgbClr val="3D2B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955798" y="987552"/>
            <a:ext cx="532638" cy="54864"/>
          </a:xfrm>
          <a:prstGeom prst="rect">
            <a:avLst/>
          </a:prstGeom>
          <a:solidFill>
            <a:srgbClr val="2D276A"/>
          </a:solidFill>
          <a:ln w="12700">
            <a:solidFill>
              <a:srgbClr val="2D27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3470148" y="987552"/>
            <a:ext cx="532638" cy="54864"/>
          </a:xfrm>
          <a:prstGeom prst="rect">
            <a:avLst/>
          </a:prstGeom>
          <a:solidFill>
            <a:srgbClr val="1D234F"/>
          </a:solidFill>
          <a:ln w="12700">
            <a:solidFill>
              <a:srgbClr val="1D23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984498" y="987552"/>
            <a:ext cx="532638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93776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1042416" y="10789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3-layer architecture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42416" y="14630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content + multimodal ML + GenAI teacher — fully integrated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84048" y="2267712"/>
            <a:ext cx="4114800" cy="1143000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384048" y="2267712"/>
            <a:ext cx="532638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898398" y="2267712"/>
            <a:ext cx="532638" cy="54864"/>
          </a:xfrm>
          <a:prstGeom prst="rect">
            <a:avLst/>
          </a:prstGeom>
          <a:solidFill>
            <a:srgbClr val="07A0BD"/>
          </a:solidFill>
          <a:ln w="12700">
            <a:solidFill>
              <a:srgbClr val="07A0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1412748" y="2267712"/>
            <a:ext cx="532638" cy="54864"/>
          </a:xfrm>
          <a:prstGeom prst="rect">
            <a:avLst/>
          </a:prstGeom>
          <a:solidFill>
            <a:srgbClr val="088BA7"/>
          </a:solidFill>
          <a:ln w="12700">
            <a:solidFill>
              <a:srgbClr val="088B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1927098" y="2267712"/>
            <a:ext cx="532638" cy="54864"/>
          </a:xfrm>
          <a:prstGeom prst="rect">
            <a:avLst/>
          </a:prstGeom>
          <a:solidFill>
            <a:srgbClr val="097590"/>
          </a:solidFill>
          <a:ln w="12700">
            <a:solidFill>
              <a:srgbClr val="0975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441448" y="2267712"/>
            <a:ext cx="532638" cy="54864"/>
          </a:xfrm>
          <a:prstGeom prst="rect">
            <a:avLst/>
          </a:prstGeom>
          <a:solidFill>
            <a:srgbClr val="0A6079"/>
          </a:solidFill>
          <a:ln w="12700">
            <a:solidFill>
              <a:srgbClr val="0A60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2955798" y="2267712"/>
            <a:ext cx="532638" cy="54864"/>
          </a:xfrm>
          <a:prstGeom prst="rect">
            <a:avLst/>
          </a:prstGeom>
          <a:solidFill>
            <a:srgbClr val="0B4A62"/>
          </a:solidFill>
          <a:ln w="12700">
            <a:solidFill>
              <a:srgbClr val="0B4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3470148" y="2267712"/>
            <a:ext cx="532638" cy="54864"/>
          </a:xfrm>
          <a:prstGeom prst="rect">
            <a:avLst/>
          </a:prstGeom>
          <a:solidFill>
            <a:srgbClr val="0C354C"/>
          </a:solidFill>
          <a:ln w="12700">
            <a:solidFill>
              <a:srgbClr val="0C35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3984498" y="2267712"/>
            <a:ext cx="532638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93776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1042416" y="23591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to signal loss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1042416" y="274320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fusion auto-adjusts weights when face or audio is unavailable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384048" y="3547872"/>
            <a:ext cx="4114800" cy="1143000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384048" y="3547872"/>
            <a:ext cx="53263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898398" y="3547872"/>
            <a:ext cx="532638" cy="54864"/>
          </a:xfrm>
          <a:prstGeom prst="rect">
            <a:avLst/>
          </a:prstGeom>
          <a:solidFill>
            <a:srgbClr val="10A376"/>
          </a:solidFill>
          <a:ln w="12700">
            <a:solidFill>
              <a:srgbClr val="10A3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1412748" y="3547872"/>
            <a:ext cx="532638" cy="54864"/>
          </a:xfrm>
          <a:prstGeom prst="rect">
            <a:avLst/>
          </a:prstGeom>
          <a:solidFill>
            <a:srgbClr val="0F8D6B"/>
          </a:solidFill>
          <a:ln w="12700">
            <a:solidFill>
              <a:srgbClr val="0F8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1927098" y="3547872"/>
            <a:ext cx="532638" cy="54864"/>
          </a:xfrm>
          <a:prstGeom prst="rect">
            <a:avLst/>
          </a:prstGeom>
          <a:solidFill>
            <a:srgbClr val="0F7760"/>
          </a:solidFill>
          <a:ln w="12700">
            <a:solidFill>
              <a:srgbClr val="0F77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2441448" y="3547872"/>
            <a:ext cx="532638" cy="54864"/>
          </a:xfrm>
          <a:prstGeom prst="rect">
            <a:avLst/>
          </a:prstGeom>
          <a:solidFill>
            <a:srgbClr val="0E6156"/>
          </a:solidFill>
          <a:ln w="12700">
            <a:solidFill>
              <a:srgbClr val="0E61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955798" y="3547872"/>
            <a:ext cx="532638" cy="54864"/>
          </a:xfrm>
          <a:prstGeom prst="rect">
            <a:avLst/>
          </a:prstGeom>
          <a:solidFill>
            <a:srgbClr val="0E4B4B"/>
          </a:solidFill>
          <a:ln w="12700">
            <a:solidFill>
              <a:srgbClr val="0E4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3470148" y="3547872"/>
            <a:ext cx="532638" cy="54864"/>
          </a:xfrm>
          <a:prstGeom prst="rect">
            <a:avLst/>
          </a:prstGeom>
          <a:solidFill>
            <a:srgbClr val="0D3540"/>
          </a:solidFill>
          <a:ln w="12700">
            <a:solidFill>
              <a:srgbClr val="0D35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3984498" y="3547872"/>
            <a:ext cx="532638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493776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70" name="Text 68"/>
          <p:cNvSpPr/>
          <p:nvPr/>
        </p:nvSpPr>
        <p:spPr>
          <a:xfrm>
            <a:off x="1042416" y="36393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deployment</a:t>
            </a:r>
            <a:endParaRPr lang="en-US" sz="1250" dirty="0"/>
          </a:p>
        </p:txBody>
      </p:sp>
      <p:sp>
        <p:nvSpPr>
          <p:cNvPr id="71" name="Text 69"/>
          <p:cNvSpPr/>
          <p:nvPr/>
        </p:nvSpPr>
        <p:spPr>
          <a:xfrm>
            <a:off x="1042416" y="40233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Space removes Python dependency from Node backend entirely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846320" y="987552"/>
            <a:ext cx="4114800" cy="1143000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4846320" y="987552"/>
            <a:ext cx="53263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5360670" y="987552"/>
            <a:ext cx="532638" cy="54864"/>
          </a:xfrm>
          <a:prstGeom prst="rect">
            <a:avLst/>
          </a:prstGeom>
          <a:solidFill>
            <a:srgbClr val="D48C11"/>
          </a:solidFill>
          <a:ln w="12700">
            <a:solidFill>
              <a:srgbClr val="D48C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5875020" y="987552"/>
            <a:ext cx="532638" cy="54864"/>
          </a:xfrm>
          <a:prstGeom prst="rect">
            <a:avLst/>
          </a:prstGeom>
          <a:solidFill>
            <a:srgbClr val="B37A17"/>
          </a:solidFill>
          <a:ln w="12700">
            <a:solidFill>
              <a:srgbClr val="B37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6389370" y="987552"/>
            <a:ext cx="532638" cy="54864"/>
          </a:xfrm>
          <a:prstGeom prst="rect">
            <a:avLst/>
          </a:prstGeom>
          <a:solidFill>
            <a:srgbClr val="92681D"/>
          </a:solidFill>
          <a:ln w="12700">
            <a:solidFill>
              <a:srgbClr val="9268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6903720" y="987552"/>
            <a:ext cx="532638" cy="54864"/>
          </a:xfrm>
          <a:prstGeom prst="rect">
            <a:avLst/>
          </a:prstGeom>
          <a:solidFill>
            <a:srgbClr val="705523"/>
          </a:solidFill>
          <a:ln w="12700">
            <a:solidFill>
              <a:srgbClr val="7055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7418070" y="987552"/>
            <a:ext cx="532638" cy="54864"/>
          </a:xfrm>
          <a:prstGeom prst="rect">
            <a:avLst/>
          </a:prstGeom>
          <a:solidFill>
            <a:srgbClr val="4F4329"/>
          </a:solidFill>
          <a:ln w="12700">
            <a:solidFill>
              <a:srgbClr val="4F43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7932420" y="987552"/>
            <a:ext cx="532638" cy="54864"/>
          </a:xfrm>
          <a:prstGeom prst="rect">
            <a:avLst/>
          </a:prstGeom>
          <a:solidFill>
            <a:srgbClr val="2E312F"/>
          </a:solidFill>
          <a:ln w="12700">
            <a:solidFill>
              <a:srgbClr val="2E31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8446770" y="987552"/>
            <a:ext cx="532638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4956048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82" name="Text 80"/>
          <p:cNvSpPr/>
          <p:nvPr/>
        </p:nvSpPr>
        <p:spPr>
          <a:xfrm>
            <a:off x="5504688" y="10789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evidence</a:t>
            </a:r>
            <a:endParaRPr lang="en-US" sz="1250" dirty="0"/>
          </a:p>
        </p:txBody>
      </p:sp>
      <p:sp>
        <p:nvSpPr>
          <p:cNvPr id="83" name="Text 81"/>
          <p:cNvSpPr/>
          <p:nvPr/>
        </p:nvSpPr>
        <p:spPr>
          <a:xfrm>
            <a:off x="5504688" y="14630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sessions · mean 49.6 ± 16.6 · 95% CI [45.3, 53.9] · JD traceability 15.5%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4846320" y="2267712"/>
            <a:ext cx="4114800" cy="1143000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4846320" y="2267712"/>
            <a:ext cx="532638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5360670" y="2267712"/>
            <a:ext cx="532638" cy="54864"/>
          </a:xfrm>
          <a:prstGeom prst="rect">
            <a:avLst/>
          </a:prstGeom>
          <a:solidFill>
            <a:srgbClr val="4640CC"/>
          </a:solidFill>
          <a:ln w="12700">
            <a:solidFill>
              <a:srgbClr val="464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5875020" y="2267712"/>
            <a:ext cx="532638" cy="54864"/>
          </a:xfrm>
          <a:prstGeom prst="rect">
            <a:avLst/>
          </a:prstGeom>
          <a:solidFill>
            <a:srgbClr val="3C3BB3"/>
          </a:solidFill>
          <a:ln w="12700">
            <a:solidFill>
              <a:srgbClr val="3C3B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6389370" y="2267712"/>
            <a:ext cx="532638" cy="54864"/>
          </a:xfrm>
          <a:prstGeom prst="rect">
            <a:avLst/>
          </a:prstGeom>
          <a:solidFill>
            <a:srgbClr val="33359A"/>
          </a:solidFill>
          <a:ln w="12700">
            <a:solidFill>
              <a:srgbClr val="3335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6903720" y="2267712"/>
            <a:ext cx="532638" cy="54864"/>
          </a:xfrm>
          <a:prstGeom prst="rect">
            <a:avLst/>
          </a:prstGeom>
          <a:solidFill>
            <a:srgbClr val="293080"/>
          </a:solidFill>
          <a:ln w="12700">
            <a:solidFill>
              <a:srgbClr val="293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7418070" y="2267712"/>
            <a:ext cx="532638" cy="54864"/>
          </a:xfrm>
          <a:prstGeom prst="rect">
            <a:avLst/>
          </a:prstGeom>
          <a:solidFill>
            <a:srgbClr val="202A67"/>
          </a:solidFill>
          <a:ln w="12700">
            <a:solidFill>
              <a:srgbClr val="202A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7932420" y="2267712"/>
            <a:ext cx="532638" cy="54864"/>
          </a:xfrm>
          <a:prstGeom prst="rect">
            <a:avLst/>
          </a:prstGeom>
          <a:solidFill>
            <a:srgbClr val="16254E"/>
          </a:solidFill>
          <a:ln w="12700">
            <a:solidFill>
              <a:srgbClr val="1625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8446770" y="2267712"/>
            <a:ext cx="532638" cy="548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4956048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94" name="Text 92"/>
          <p:cNvSpPr/>
          <p:nvPr/>
        </p:nvSpPr>
        <p:spPr>
          <a:xfrm>
            <a:off x="5504688" y="23591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evaluation design</a:t>
            </a:r>
            <a:endParaRPr lang="en-US" sz="1250" dirty="0"/>
          </a:p>
        </p:txBody>
      </p:sp>
      <p:sp>
        <p:nvSpPr>
          <p:cNvPr id="95" name="Text 93"/>
          <p:cNvSpPr/>
          <p:nvPr/>
        </p:nvSpPr>
        <p:spPr>
          <a:xfrm>
            <a:off x="5504688" y="274320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plan + IEEEsession_analysis.py script for future benchmarks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0" y="4800600"/>
            <a:ext cx="1161288" cy="3429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5"/>
          <p:cNvSpPr/>
          <p:nvPr/>
        </p:nvSpPr>
        <p:spPr>
          <a:xfrm>
            <a:off x="1143000" y="4800600"/>
            <a:ext cx="1161288" cy="342900"/>
          </a:xfrm>
          <a:prstGeom prst="rect">
            <a:avLst/>
          </a:prstGeom>
          <a:solidFill>
            <a:srgbClr val="763CEC"/>
          </a:solidFill>
          <a:ln w="12700">
            <a:solidFill>
              <a:srgbClr val="763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2286000" y="4800600"/>
            <a:ext cx="1161288" cy="342900"/>
          </a:xfrm>
          <a:prstGeom prst="rect">
            <a:avLst/>
          </a:prstGeom>
          <a:solidFill>
            <a:srgbClr val="6F3DEB"/>
          </a:solidFill>
          <a:ln w="12700">
            <a:solidFill>
              <a:srgbClr val="6F3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3429000" y="4800600"/>
            <a:ext cx="1161288" cy="342900"/>
          </a:xfrm>
          <a:prstGeom prst="rect">
            <a:avLst/>
          </a:prstGeom>
          <a:solidFill>
            <a:srgbClr val="693FEA"/>
          </a:solidFill>
          <a:ln w="12700">
            <a:solidFill>
              <a:srgbClr val="693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4572000" y="4800600"/>
            <a:ext cx="1161288" cy="342900"/>
          </a:xfrm>
          <a:prstGeom prst="rect">
            <a:avLst/>
          </a:prstGeom>
          <a:solidFill>
            <a:srgbClr val="6241E8"/>
          </a:solidFill>
          <a:ln w="12700">
            <a:solidFill>
              <a:srgbClr val="624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5715000" y="4800600"/>
            <a:ext cx="1161288" cy="342900"/>
          </a:xfrm>
          <a:prstGeom prst="rect">
            <a:avLst/>
          </a:prstGeom>
          <a:solidFill>
            <a:srgbClr val="5C43E7"/>
          </a:solidFill>
          <a:ln w="12700">
            <a:solidFill>
              <a:srgbClr val="5C4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100"/>
          <p:cNvSpPr/>
          <p:nvPr/>
        </p:nvSpPr>
        <p:spPr>
          <a:xfrm>
            <a:off x="6858000" y="4800600"/>
            <a:ext cx="1161288" cy="342900"/>
          </a:xfrm>
          <a:prstGeom prst="rect">
            <a:avLst/>
          </a:prstGeom>
          <a:solidFill>
            <a:srgbClr val="5544E6"/>
          </a:solidFill>
          <a:ln w="12700">
            <a:solidFill>
              <a:srgbClr val="554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8001000" y="4800600"/>
            <a:ext cx="1161288" cy="3429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2116</Words>
  <Application>Microsoft Office PowerPoint</Application>
  <PresentationFormat>On-screen Show (16:9)</PresentationFormat>
  <Paragraphs>400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IntelliHire — From Signals to Semantics</dc:title>
  <dc:subject>PptxGenJS Presentation</dc:subject>
  <dc:creator>PptxGenJS</dc:creator>
  <cp:lastModifiedBy>Harshita Maurya</cp:lastModifiedBy>
  <cp:revision>7</cp:revision>
  <dcterms:created xsi:type="dcterms:W3CDTF">2026-04-03T13:06:53Z</dcterms:created>
  <dcterms:modified xsi:type="dcterms:W3CDTF">2026-04-04T05:27:42Z</dcterms:modified>
</cp:coreProperties>
</file>